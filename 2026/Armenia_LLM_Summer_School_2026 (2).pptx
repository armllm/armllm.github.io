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comments+xml" PartName="/ppt/comments/comment2.xml"/>
  <Override ContentType="application/vnd.openxmlformats-officedocument.presentationml.comments+xml" PartName="/ppt/comments/comment5.xml"/>
  <Override ContentType="application/vnd.openxmlformats-officedocument.presentationml.comments+xml" PartName="/ppt/comments/comment4.xml"/>
  <Override ContentType="application/vnd.openxmlformats-officedocument.presentationml.comments+xml" PartName="/ppt/comments/comment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5143500" cx="9144000"/>
  <p:notesSz cx="5143500" cy="9144000"/>
  <p:embeddedFontLst>
    <p:embeddedFont>
      <p:font typeface="Poppins"/>
      <p:regular r:id="rId16"/>
      <p:bold r:id="rId17"/>
      <p:italic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ikXYaZ7iDlNN5K36XsBZ2G6TFhjg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2" name="ArmeniaLLM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customschemas.google.com/relationships/presentationmetadata" Target="meta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Poppins-bold.fntdata"/><Relationship Id="rId16" Type="http://schemas.openxmlformats.org/officeDocument/2006/relationships/font" Target="fonts/Poppins-regular.fntdata"/><Relationship Id="rId19" Type="http://schemas.openxmlformats.org/officeDocument/2006/relationships/font" Target="fonts/Poppins-boldItalic.fntdata"/><Relationship Id="rId18" Type="http://schemas.openxmlformats.org/officeDocument/2006/relationships/font" Target="fonts/Poppins-italic.fntdata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3-09T15:33:37.602">
    <p:pos x="0" y="0"/>
    <p:text>add numbers from last years
discounts, քանի ուսանող ա եկել ինչքան զեղչ ենք տվել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1gc-Lq8"/>
      </p:ext>
    </p:extLst>
  </p:cm>
  <p:cm authorId="0" idx="2" dt="2026-03-09T15:13:31.501">
    <p:pos x="0" y="0"/>
    <p:text>add nebius GPU grant ~ 75K usd</p:text>
    <p:extLst>
      <p:ext uri="{C676402C-5697-4E1C-873F-D02D1690AC5C}">
        <p15:threadingInfo timeZoneBias="0">
          <p15:parentCm authorId="0" idx="1"/>
        </p15:threadingInfo>
      </p:ext>
      <p:ext uri="http://customooxmlschemas.google.com/">
        <go:slidesCustomData xmlns:go="http://customooxmlschemas.google.com/" commentPostId="AAAB1gc-LrE"/>
      </p:ext>
    </p:extLst>
  </p:cm>
  <p:cm authorId="0" idx="3" dt="2026-03-09T15:18:51.822">
    <p:pos x="0" y="0"/>
    <p:text>speakers don't get honorarium</p:text>
    <p:extLst>
      <p:ext uri="{C676402C-5697-4E1C-873F-D02D1690AC5C}">
        <p15:threadingInfo timeZoneBias="0">
          <p15:parentCm authorId="0" idx="1"/>
        </p15:threadingInfo>
      </p:ext>
      <p:ext uri="http://customooxmlschemas.google.com/">
        <go:slidesCustomData xmlns:go="http://customooxmlschemas.google.com/" commentPostId="AAAB1goXlcw"/>
      </p:ext>
    </p:extLst>
  </p:cm>
  <p:cm authorId="0" idx="4" dt="2026-03-09T15:32:54.314">
    <p:pos x="0" y="0"/>
    <p:text>budget high level breakdown
venue
gpu
speaker
financial aid 
logistics for organization</p:text>
    <p:extLst>
      <p:ext uri="{C676402C-5697-4E1C-873F-D02D1690AC5C}">
        <p15:threadingInfo timeZoneBias="0">
          <p15:parentCm authorId="0" idx="1"/>
        </p15:threadingInfo>
      </p:ext>
      <p:ext uri="http://customooxmlschemas.google.com/">
        <go:slidesCustomData xmlns:go="http://customooxmlschemas.google.com/" commentPostId="AAAB1gsjEcw"/>
      </p:ext>
    </p:extLst>
  </p:cm>
  <p:cm authorId="0" idx="5" dt="2026-03-09T15:33:37.602">
    <p:pos x="0" y="0"/>
    <p:text>highlight the 90% discount</p:text>
    <p:extLst>
      <p:ext uri="{C676402C-5697-4E1C-873F-D02D1690AC5C}">
        <p15:threadingInfo timeZoneBias="0">
          <p15:parentCm authorId="0" idx="1"/>
        </p15:threadingInfo>
      </p:ext>
      <p:ext uri="http://customooxmlschemas.google.com/">
        <go:slidesCustomData xmlns:go="http://customooxmlschemas.google.com/" commentPostId="AAAB1gsjEc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6" dt="2026-03-09T15:32:10.053">
    <p:pos x="0" y="0"/>
    <p:text>list countries of participants+
pie chart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1gc-LrA"/>
      </p:ext>
    </p:extLst>
  </p:cm>
  <p:cm authorId="0" idx="7" dt="2026-03-09T15:26:32.839">
    <p:pos x="0" y="0"/>
    <p:text>general intro
+ impact</p:text>
    <p:extLst>
      <p:ext uri="{C676402C-5697-4E1C-873F-D02D1690AC5C}">
        <p15:threadingInfo timeZoneBias="0">
          <p15:parentCm authorId="0" idx="6"/>
        </p15:threadingInfo>
      </p:ext>
      <p:ext uri="http://customooxmlschemas.google.com/">
        <go:slidesCustomData xmlns:go="http://customooxmlschemas.google.com/" commentPostId="AAAB1goXlc0"/>
      </p:ext>
    </p:extLst>
  </p:cm>
  <p:cm authorId="0" idx="8" dt="2026-03-09T15:32:10.053">
    <p:pos x="0" y="0"/>
    <p:text>statistics on industry and student, եթե ուսանող է նշել այդպես, ինդուստրիան միայն որ ուսանողներով պահել</p:text>
    <p:extLst>
      <p:ext uri="{C676402C-5697-4E1C-873F-D02D1690AC5C}">
        <p15:threadingInfo timeZoneBias="0">
          <p15:parentCm authorId="0" idx="6"/>
        </p15:threadingInfo>
      </p:ext>
      <p:ext uri="http://customooxmlschemas.google.com/">
        <go:slidesCustomData xmlns:go="http://customooxmlschemas.google.com/" commentPostId="AAAB1gsjEcs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9" dt="2026-03-09T15:11:20.918">
    <p:pos x="61" y="27"/>
    <p:text>put logos of companies next to the names
small size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1gc-Lq4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0" dt="2026-03-09T15:29:19.536">
    <p:pos x="0" y="0"/>
    <p:text>Add company logos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1goXlc8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1" dt="2026-03-09T15:15:06.446">
    <p:pos x="6000" y="0"/>
    <p:text>one slide only pictures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1gc-LrI"/>
      </p:ext>
    </p:extLst>
  </p:cm>
  <p:cm authorId="0" idx="12" dt="2026-03-09T15:15:06.446">
    <p:pos x="6000" y="0"/>
    <p:text>speakers, talks</p:text>
    <p:extLst>
      <p:ext uri="{C676402C-5697-4E1C-873F-D02D1690AC5C}">
        <p15:threadingInfo timeZoneBias="0">
          <p15:parentCm authorId="0" idx="11"/>
        </p15:threadingInfo>
      </p:ext>
      <p:ext uri="http://customooxmlschemas.google.com/">
        <go:slidesCustomData xmlns:go="http://customooxmlschemas.google.com/" commentPostId="AAAB1gc-LrM"/>
      </p:ext>
    </p:extLs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" name="Google Shape;22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" name="Google Shape;46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9" name="Google Shape;69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4" name="Google Shape;84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9" name="Google Shape;119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7" name="Google Shape;147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9" name="Google Shape;179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95e0c14fd2_1_9:notes"/>
          <p:cNvSpPr/>
          <p:nvPr>
            <p:ph idx="2" type="sldImg"/>
          </p:nvPr>
        </p:nvSpPr>
        <p:spPr>
          <a:xfrm>
            <a:off x="857400" y="685800"/>
            <a:ext cx="3429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95e0c14fd2_1_9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2" name="Google Shape;232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1.jpg"/><Relationship Id="rId4" Type="http://schemas.openxmlformats.org/officeDocument/2006/relationships/image" Target="../media/image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7.jpg"/><Relationship Id="rId4" Type="http://schemas.openxmlformats.org/officeDocument/2006/relationships/image" Target="../media/image13.png"/><Relationship Id="rId9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4.png"/><Relationship Id="rId7" Type="http://schemas.openxmlformats.org/officeDocument/2006/relationships/image" Target="../media/image8.png"/><Relationship Id="rId8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omments" Target="../comments/comment1.xml"/><Relationship Id="rId4" Type="http://schemas.openxmlformats.org/officeDocument/2006/relationships/image" Target="../media/image16.jpg"/><Relationship Id="rId5" Type="http://schemas.openxmlformats.org/officeDocument/2006/relationships/image" Target="../media/image3.png"/><Relationship Id="rId6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omments" Target="../comments/comment2.xml"/><Relationship Id="rId4" Type="http://schemas.openxmlformats.org/officeDocument/2006/relationships/image" Target="../media/image16.jpg"/><Relationship Id="rId5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omments" Target="../comments/comment3.xml"/><Relationship Id="rId4" Type="http://schemas.openxmlformats.org/officeDocument/2006/relationships/image" Target="../media/image11.jpg"/><Relationship Id="rId5" Type="http://schemas.openxmlformats.org/officeDocument/2006/relationships/image" Target="../media/image14.png"/><Relationship Id="rId6" Type="http://schemas.openxmlformats.org/officeDocument/2006/relationships/image" Target="../media/image1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omments" Target="../comments/comment4.xml"/><Relationship Id="rId4" Type="http://schemas.openxmlformats.org/officeDocument/2006/relationships/image" Target="../media/image16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jpg"/><Relationship Id="rId4" Type="http://schemas.openxmlformats.org/officeDocument/2006/relationships/image" Target="../media/image18.png"/><Relationship Id="rId11" Type="http://schemas.openxmlformats.org/officeDocument/2006/relationships/image" Target="../media/image28.png"/><Relationship Id="rId10" Type="http://schemas.openxmlformats.org/officeDocument/2006/relationships/image" Target="../media/image27.png"/><Relationship Id="rId9" Type="http://schemas.openxmlformats.org/officeDocument/2006/relationships/image" Target="../media/image19.jpg"/><Relationship Id="rId5" Type="http://schemas.openxmlformats.org/officeDocument/2006/relationships/image" Target="../media/image12.png"/><Relationship Id="rId6" Type="http://schemas.openxmlformats.org/officeDocument/2006/relationships/image" Target="../media/image23.png"/><Relationship Id="rId7" Type="http://schemas.openxmlformats.org/officeDocument/2006/relationships/image" Target="../media/image29.png"/><Relationship Id="rId8" Type="http://schemas.openxmlformats.org/officeDocument/2006/relationships/image" Target="../media/image15.png"/></Relationships>
</file>

<file path=ppt/slides/_rels/slide8.xml.rels><?xml version="1.0" encoding="UTF-8" standalone="yes"?><Relationships xmlns="http://schemas.openxmlformats.org/package/2006/relationships"><Relationship Id="rId20" Type="http://schemas.openxmlformats.org/officeDocument/2006/relationships/image" Target="../media/image34.jpg"/><Relationship Id="rId22" Type="http://schemas.openxmlformats.org/officeDocument/2006/relationships/image" Target="../media/image32.jpg"/><Relationship Id="rId21" Type="http://schemas.openxmlformats.org/officeDocument/2006/relationships/image" Target="../media/image35.jpg"/><Relationship Id="rId24" Type="http://schemas.openxmlformats.org/officeDocument/2006/relationships/hyperlink" Target="https://www.youtube.com/watch?v=HxLQ9Y-947U" TargetMode="External"/><Relationship Id="rId23" Type="http://schemas.openxmlformats.org/officeDocument/2006/relationships/image" Target="../media/image33.jp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omments" Target="../comments/comment5.xml"/><Relationship Id="rId4" Type="http://schemas.openxmlformats.org/officeDocument/2006/relationships/image" Target="../media/image16.jpg"/><Relationship Id="rId9" Type="http://schemas.openxmlformats.org/officeDocument/2006/relationships/hyperlink" Target="http://dev.itel.am/am/news/15435" TargetMode="External"/><Relationship Id="rId25" Type="http://schemas.openxmlformats.org/officeDocument/2006/relationships/hyperlink" Target="https://www.youtube.com/watch?v=jXqUkthY_sI" TargetMode="External"/><Relationship Id="rId5" Type="http://schemas.openxmlformats.org/officeDocument/2006/relationships/image" Target="../media/image25.png"/><Relationship Id="rId6" Type="http://schemas.openxmlformats.org/officeDocument/2006/relationships/hyperlink" Target="https://tech.news.am/arm/news/3794/hayastanum-meknarkel-e-mets-lezvakan-modelneri-arajin-amarayin-dprocy.html" TargetMode="External"/><Relationship Id="rId7" Type="http://schemas.openxmlformats.org/officeDocument/2006/relationships/hyperlink" Target="https://www.youtube.com/watch?v=wy8eMSnoA2s" TargetMode="External"/><Relationship Id="rId8" Type="http://schemas.openxmlformats.org/officeDocument/2006/relationships/hyperlink" Target="https://evnreport.com/podcasts/evn-disrupt/perouz-taslakian-erik-arakelyan-llm-summer-school/" TargetMode="External"/><Relationship Id="rId11" Type="http://schemas.openxmlformats.org/officeDocument/2006/relationships/image" Target="../media/image31.png"/><Relationship Id="rId10" Type="http://schemas.openxmlformats.org/officeDocument/2006/relationships/image" Target="../media/image24.png"/><Relationship Id="rId13" Type="http://schemas.openxmlformats.org/officeDocument/2006/relationships/image" Target="../media/image22.png"/><Relationship Id="rId12" Type="http://schemas.openxmlformats.org/officeDocument/2006/relationships/hyperlink" Target="https://youtube.com/playlist?list=PL6uSmoBKOSuuZsTPc4EHx7HBt3zCvUnY4&amp;si=70AYum5nlfyWwqig" TargetMode="External"/><Relationship Id="rId15" Type="http://schemas.openxmlformats.org/officeDocument/2006/relationships/image" Target="../media/image20.png"/><Relationship Id="rId14" Type="http://schemas.openxmlformats.org/officeDocument/2006/relationships/hyperlink" Target="https://www.youtube.com/watch?v=c_jkhJglwhk" TargetMode="External"/><Relationship Id="rId17" Type="http://schemas.openxmlformats.org/officeDocument/2006/relationships/image" Target="../media/image37.png"/><Relationship Id="rId16" Type="http://schemas.openxmlformats.org/officeDocument/2006/relationships/hyperlink" Target="https://www.linkedin.com/feed/update/urn:li:activity:7358189773196304384" TargetMode="External"/><Relationship Id="rId19" Type="http://schemas.openxmlformats.org/officeDocument/2006/relationships/image" Target="../media/image36.jpg"/><Relationship Id="rId18" Type="http://schemas.openxmlformats.org/officeDocument/2006/relationships/hyperlink" Target="https://www.instagram.com/p/DMNREbbMeA1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Relationship Id="rId6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2" name="Google Shape;12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1"/>
          <p:cNvSpPr/>
          <p:nvPr/>
        </p:nvSpPr>
        <p:spPr>
          <a:xfrm>
            <a:off x="4098504" y="1582173"/>
            <a:ext cx="946990" cy="1984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4115"/>
              </a:lnSpc>
              <a:spcBef>
                <a:spcPts val="0"/>
              </a:spcBef>
              <a:spcAft>
                <a:spcPts val="0"/>
              </a:spcAft>
              <a:buClr>
                <a:srgbClr val="6B21A8"/>
              </a:buClr>
              <a:buSzPts val="1193"/>
              <a:buFont typeface="Poppins"/>
              <a:buNone/>
            </a:pPr>
            <a:r>
              <a:rPr b="1" i="0" lang="en-US" sz="1193" u="none" cap="none" strike="noStrike">
                <a:solidFill>
                  <a:srgbClr val="6B21A8"/>
                </a:solidFill>
                <a:latin typeface="Poppins"/>
                <a:ea typeface="Poppins"/>
                <a:cs typeface="Poppins"/>
                <a:sym typeface="Poppins"/>
              </a:rPr>
              <a:t>3RD EDITION</a:t>
            </a:r>
            <a:endParaRPr b="0" i="0" sz="119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1"/>
          <p:cNvSpPr/>
          <p:nvPr/>
        </p:nvSpPr>
        <p:spPr>
          <a:xfrm>
            <a:off x="1000125" y="1912572"/>
            <a:ext cx="7143750" cy="10207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3293"/>
              <a:buFont typeface="Poppins"/>
              <a:buNone/>
            </a:pPr>
            <a:r>
              <a:rPr b="1" i="0" lang="en-US" sz="3293" u="none" cap="none" strike="noStrike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Armenia Large Language Models Summer School 2026</a:t>
            </a:r>
            <a:endParaRPr b="0" i="0" sz="329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1"/>
          <p:cNvSpPr/>
          <p:nvPr/>
        </p:nvSpPr>
        <p:spPr>
          <a:xfrm>
            <a:off x="1851159" y="3061264"/>
            <a:ext cx="5441681" cy="2752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9107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704"/>
              <a:buFont typeface="Poppins"/>
              <a:buNone/>
            </a:pPr>
            <a:r>
              <a:rPr b="0" i="0" lang="en-US" sz="1704" u="none" cap="none" strike="noStrik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AUGUST 3–7, 2026 | AI9 STARTUP CAMPUS, YEREVAN</a:t>
            </a:r>
            <a:endParaRPr b="0" i="0" sz="170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2428875" y="3689914"/>
            <a:ext cx="4286250" cy="37147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2428875" y="3689914"/>
            <a:ext cx="4286250" cy="14288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2904075" y="3839933"/>
            <a:ext cx="3335849" cy="1738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B21A8"/>
              </a:buClr>
              <a:buSzPts val="1050"/>
              <a:buFont typeface="Poppins"/>
              <a:buNone/>
            </a:pPr>
            <a:r>
              <a:rPr b="0" i="1" lang="en-US" sz="1050" u="none" cap="none" strike="noStrike">
                <a:solidFill>
                  <a:srgbClr val="6B21A8"/>
                </a:solidFill>
                <a:latin typeface="Poppins"/>
                <a:ea typeface="Poppins"/>
                <a:cs typeface="Poppins"/>
                <a:sym typeface="Poppins"/>
              </a:rPr>
              <a:t>Bringing the forefront of LLM research to Armenia.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" name="Google Shape;19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76867" y="500062"/>
            <a:ext cx="990264" cy="9902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5" name="Google Shape;25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8912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2"/>
          <p:cNvSpPr/>
          <p:nvPr/>
        </p:nvSpPr>
        <p:spPr>
          <a:xfrm>
            <a:off x="428625" y="428625"/>
            <a:ext cx="82867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328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1602"/>
              <a:buFont typeface="Poppins"/>
              <a:buNone/>
            </a:pPr>
            <a:r>
              <a:rPr b="1" lang="en-US" sz="1602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ALIGNMENT WITH ARMENIA'S AI DEVELOPMENT</a:t>
            </a:r>
            <a:endParaRPr sz="160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7" name="Google Shape;27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8625" y="1401068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2"/>
          <p:cNvSpPr/>
          <p:nvPr/>
        </p:nvSpPr>
        <p:spPr>
          <a:xfrm>
            <a:off x="707231" y="1357313"/>
            <a:ext cx="1716286" cy="2589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4115"/>
              </a:lnSpc>
              <a:spcBef>
                <a:spcPts val="0"/>
              </a:spcBef>
              <a:spcAft>
                <a:spcPts val="0"/>
              </a:spcAft>
              <a:buClr>
                <a:srgbClr val="6B21A8"/>
              </a:buClr>
              <a:buSzPts val="1193"/>
              <a:buFont typeface="Poppins"/>
              <a:buNone/>
            </a:pPr>
            <a:r>
              <a:rPr b="1" lang="en-US" sz="1193">
                <a:solidFill>
                  <a:srgbClr val="6B21A8"/>
                </a:solidFill>
                <a:latin typeface="Poppins"/>
                <a:ea typeface="Poppins"/>
                <a:cs typeface="Poppins"/>
                <a:sym typeface="Poppins"/>
              </a:rPr>
              <a:t>OBJECTIVE &amp; SCOPE</a:t>
            </a:r>
            <a:endParaRPr sz="119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428625" y="1736472"/>
            <a:ext cx="3929100" cy="8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34"/>
              <a:buFont typeface="Poppins"/>
              <a:buNone/>
            </a:pPr>
            <a:r>
              <a:rPr lang="en-US" sz="1034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This summer school is in line with current developments in Armenia: compute infrastructure by Firebird, Eleveight and YSU, and policies. Armenia aims to grow the number of strong world-class AI researchers by 2032 to reach 200. This school supports this goal by empowering existing researchers and students.</a:t>
            </a:r>
            <a:endParaRPr sz="10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428625" y="2633474"/>
            <a:ext cx="3929100" cy="96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34"/>
              <a:buFont typeface="Poppins"/>
              <a:buNone/>
            </a:pPr>
            <a:r>
              <a:rPr lang="en-US" sz="1034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The curriculum will cover a range of both core and specialized topics in LLMs, ensuring participants gain both theoretical depth and practical expertise.</a:t>
            </a:r>
            <a:endParaRPr sz="1034">
              <a:solidFill>
                <a:srgbClr val="334155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34"/>
              <a:buFont typeface="Poppins"/>
              <a:buNone/>
            </a:pPr>
            <a:r>
              <a:t/>
            </a:r>
            <a:endParaRPr sz="1034">
              <a:solidFill>
                <a:srgbClr val="334155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34"/>
              <a:buFont typeface="Poppins"/>
              <a:buNone/>
            </a:pPr>
            <a:r>
              <a:rPr b="1" lang="en-US" sz="1034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Each offline participant gets  1 GPU for </a:t>
            </a:r>
            <a:r>
              <a:rPr b="1" lang="en-US" sz="1034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practical</a:t>
            </a:r>
            <a:r>
              <a:rPr b="1" lang="en-US" sz="1034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 sessions.</a:t>
            </a:r>
            <a:endParaRPr b="1" sz="1034">
              <a:solidFill>
                <a:srgbClr val="33415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descr="preencoded.png" id="31" name="Google Shape;31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786313" y="1401068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2"/>
          <p:cNvSpPr/>
          <p:nvPr/>
        </p:nvSpPr>
        <p:spPr>
          <a:xfrm>
            <a:off x="5064919" y="1357313"/>
            <a:ext cx="1543050" cy="2589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4115"/>
              </a:lnSpc>
              <a:spcBef>
                <a:spcPts val="0"/>
              </a:spcBef>
              <a:spcAft>
                <a:spcPts val="0"/>
              </a:spcAft>
              <a:buClr>
                <a:srgbClr val="6B21A8"/>
              </a:buClr>
              <a:buSzPts val="1193"/>
              <a:buFont typeface="Poppins"/>
              <a:buNone/>
            </a:pPr>
            <a:r>
              <a:rPr b="1" lang="en-US" sz="1193">
                <a:solidFill>
                  <a:srgbClr val="6B21A8"/>
                </a:solidFill>
                <a:latin typeface="Poppins"/>
                <a:ea typeface="Poppins"/>
                <a:cs typeface="Poppins"/>
                <a:sym typeface="Poppins"/>
              </a:rPr>
              <a:t>TARGETED TOPICS</a:t>
            </a:r>
            <a:endParaRPr sz="119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3" name="Google Shape;33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786313" y="1723618"/>
            <a:ext cx="128588" cy="150019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2"/>
          <p:cNvSpPr/>
          <p:nvPr/>
        </p:nvSpPr>
        <p:spPr>
          <a:xfrm>
            <a:off x="5022056" y="1723618"/>
            <a:ext cx="3693300" cy="1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784"/>
              <a:buFont typeface="Poppins"/>
              <a:buNone/>
            </a:pPr>
            <a:r>
              <a:rPr b="1" lang="en-US" sz="900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Pre-training:</a:t>
            </a:r>
            <a:r>
              <a:rPr lang="en-US" sz="9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900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Foundations of LLMs + Vision-Language Models (VLMs).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5" name="Google Shape;35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786313" y="2135717"/>
            <a:ext cx="128588" cy="150019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2"/>
          <p:cNvSpPr/>
          <p:nvPr/>
        </p:nvSpPr>
        <p:spPr>
          <a:xfrm>
            <a:off x="5022056" y="2135717"/>
            <a:ext cx="3693300" cy="1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1894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784"/>
              <a:buFont typeface="Poppins"/>
              <a:buNone/>
            </a:pPr>
            <a:r>
              <a:rPr b="1" lang="en-US" sz="984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SFT &amp; RL:</a:t>
            </a:r>
            <a:r>
              <a:rPr lang="en-US" sz="1034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927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Supervised Fine-Tuning and Reinforcement Learning.</a:t>
            </a:r>
            <a:endParaRPr sz="10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7" name="Google Shape;37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786313" y="2512285"/>
            <a:ext cx="160734" cy="150019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2"/>
          <p:cNvSpPr/>
          <p:nvPr/>
        </p:nvSpPr>
        <p:spPr>
          <a:xfrm>
            <a:off x="5054203" y="2512285"/>
            <a:ext cx="3661200" cy="3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784"/>
              <a:buFont typeface="Poppins"/>
              <a:buNone/>
            </a:pPr>
            <a:r>
              <a:rPr b="1" lang="en-US" sz="984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Agents &amp; Tools:</a:t>
            </a:r>
            <a:r>
              <a:rPr lang="en-US" sz="1034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927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Test-time compute, autonomous agents, and tool usage.</a:t>
            </a:r>
            <a:endParaRPr sz="10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9" name="Google Shape;39;p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786313" y="3016184"/>
            <a:ext cx="128588" cy="150019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2"/>
          <p:cNvSpPr/>
          <p:nvPr/>
        </p:nvSpPr>
        <p:spPr>
          <a:xfrm>
            <a:off x="5022050" y="3016178"/>
            <a:ext cx="369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784"/>
              <a:buFont typeface="Poppins"/>
              <a:buNone/>
            </a:pPr>
            <a:r>
              <a:rPr b="1" lang="en-US" sz="984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Advanced Systems:</a:t>
            </a:r>
            <a:r>
              <a:rPr lang="en-US" sz="1034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927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Context management and VLA / Robotics.</a:t>
            </a:r>
            <a:endParaRPr sz="10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428625" y="4086225"/>
            <a:ext cx="8286750" cy="62865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428625" y="4086225"/>
            <a:ext cx="8286750" cy="28575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714375" y="4276196"/>
            <a:ext cx="7715400" cy="3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885"/>
              <a:buFont typeface="Poppins"/>
              <a:buNone/>
            </a:pPr>
            <a:r>
              <a:rPr b="1" lang="en-US" sz="985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These topics are essential additions to the university curriculum, providing the flexibility needed to reflect the fast-paced evolution of global AI research.</a:t>
            </a:r>
            <a:endParaRPr b="1" sz="98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49" name="Google Shape;49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3"/>
          <p:cNvSpPr/>
          <p:nvPr/>
        </p:nvSpPr>
        <p:spPr>
          <a:xfrm>
            <a:off x="428625" y="428625"/>
            <a:ext cx="82867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328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1602"/>
              <a:buFont typeface="Poppins"/>
              <a:buNone/>
            </a:pPr>
            <a:r>
              <a:rPr b="1" lang="en-US" sz="1602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BRIDGING THE GAP: GLOBAL RESEARCH &amp; LOCAL INNOVATION</a:t>
            </a:r>
            <a:endParaRPr sz="160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1" name="Google Shape;51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28625" y="1386780"/>
            <a:ext cx="2000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3"/>
          <p:cNvSpPr/>
          <p:nvPr/>
        </p:nvSpPr>
        <p:spPr>
          <a:xfrm>
            <a:off x="735806" y="1357313"/>
            <a:ext cx="796528" cy="2589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4115"/>
              </a:lnSpc>
              <a:spcBef>
                <a:spcPts val="0"/>
              </a:spcBef>
              <a:spcAft>
                <a:spcPts val="0"/>
              </a:spcAft>
              <a:buClr>
                <a:srgbClr val="6B21A8"/>
              </a:buClr>
              <a:buSzPts val="1193"/>
              <a:buFont typeface="Poppins"/>
              <a:buNone/>
            </a:pPr>
            <a:r>
              <a:rPr b="1" lang="en-US" sz="1193">
                <a:solidFill>
                  <a:srgbClr val="6B21A8"/>
                </a:solidFill>
                <a:latin typeface="Poppins"/>
                <a:ea typeface="Poppins"/>
                <a:cs typeface="Poppins"/>
                <a:sym typeface="Poppins"/>
              </a:rPr>
              <a:t>THE NEED</a:t>
            </a:r>
            <a:endParaRPr sz="119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3"/>
          <p:cNvSpPr/>
          <p:nvPr/>
        </p:nvSpPr>
        <p:spPr>
          <a:xfrm>
            <a:off x="428625" y="1830586"/>
            <a:ext cx="3929063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1843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987"/>
              <a:buFont typeface="Poppins"/>
              <a:buNone/>
            </a:pPr>
            <a:r>
              <a:rPr b="1" lang="en-US" sz="1187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Targeting 80 In-Person Participants</a:t>
            </a:r>
            <a:endParaRPr sz="118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428625" y="2116336"/>
            <a:ext cx="3929063" cy="3657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34"/>
              <a:buFont typeface="Poppins"/>
              <a:buNone/>
            </a:pPr>
            <a:r>
              <a:rPr lang="en-US" sz="1034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A balanced cohort of 40 industry professionals and 40 students to foster cross-sector collaboration.</a:t>
            </a:r>
            <a:endParaRPr sz="10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428625" y="2696375"/>
            <a:ext cx="3929063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1843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987"/>
              <a:buFont typeface="Poppins"/>
              <a:buNone/>
            </a:pPr>
            <a:r>
              <a:rPr b="1" lang="en-US" sz="1187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Removing Financial Barriers</a:t>
            </a:r>
            <a:endParaRPr sz="118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428625" y="2982125"/>
            <a:ext cx="3929063" cy="3657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34"/>
              <a:buFont typeface="Poppins"/>
              <a:buNone/>
            </a:pPr>
            <a:r>
              <a:rPr lang="en-US" sz="1034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High-quality AI training costs are often prohibitive for local students. We ensure merit-based access.</a:t>
            </a:r>
            <a:endParaRPr sz="10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7" name="Google Shape;57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786313" y="1386780"/>
            <a:ext cx="225028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3"/>
          <p:cNvSpPr/>
          <p:nvPr/>
        </p:nvSpPr>
        <p:spPr>
          <a:xfrm>
            <a:off x="5118497" y="1357313"/>
            <a:ext cx="1398389" cy="2589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4115"/>
              </a:lnSpc>
              <a:spcBef>
                <a:spcPts val="0"/>
              </a:spcBef>
              <a:spcAft>
                <a:spcPts val="0"/>
              </a:spcAft>
              <a:buClr>
                <a:srgbClr val="6B21A8"/>
              </a:buClr>
              <a:buSzPts val="1193"/>
              <a:buFont typeface="Poppins"/>
              <a:buNone/>
            </a:pPr>
            <a:r>
              <a:rPr b="1" lang="en-US" sz="1193">
                <a:solidFill>
                  <a:srgbClr val="6B21A8"/>
                </a:solidFill>
                <a:latin typeface="Poppins"/>
                <a:ea typeface="Poppins"/>
                <a:cs typeface="Poppins"/>
                <a:sym typeface="Poppins"/>
              </a:rPr>
              <a:t>FUNDING GOALS</a:t>
            </a:r>
            <a:endParaRPr sz="119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4786313" y="1830586"/>
            <a:ext cx="3929063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1843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987"/>
              <a:buFont typeface="Poppins"/>
              <a:buNone/>
            </a:pPr>
            <a:r>
              <a:rPr b="1" lang="en-US" sz="1187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90% Student Fee Waivers</a:t>
            </a:r>
            <a:endParaRPr sz="118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4786313" y="2116336"/>
            <a:ext cx="3929063" cy="3657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34"/>
              <a:buFont typeface="Poppins"/>
              <a:buNone/>
            </a:pPr>
            <a:r>
              <a:rPr lang="en-US" sz="1034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Directly subsidizing the participation of Armenian university students to build the local talent pool.</a:t>
            </a:r>
            <a:endParaRPr sz="10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4786313" y="2696375"/>
            <a:ext cx="3929063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1843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987"/>
              <a:buFont typeface="Poppins"/>
              <a:buNone/>
            </a:pPr>
            <a:r>
              <a:rPr b="1" lang="en-US" sz="1187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Researcher Travel Costs</a:t>
            </a:r>
            <a:endParaRPr sz="118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4786325" y="2982125"/>
            <a:ext cx="39291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34"/>
              <a:buFont typeface="Poppins"/>
              <a:buNone/>
            </a:pPr>
            <a:r>
              <a:rPr lang="en-US" sz="1034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Covering travel for global experts to come to Armenia for teaching.</a:t>
            </a:r>
            <a:endParaRPr sz="10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428625" y="4043363"/>
            <a:ext cx="8286750" cy="671513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3"/>
          <p:cNvSpPr/>
          <p:nvPr/>
        </p:nvSpPr>
        <p:spPr>
          <a:xfrm>
            <a:off x="428625" y="4043363"/>
            <a:ext cx="8286750" cy="28575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3"/>
          <p:cNvSpPr/>
          <p:nvPr/>
        </p:nvSpPr>
        <p:spPr>
          <a:xfrm>
            <a:off x="714300" y="4207900"/>
            <a:ext cx="7715400" cy="21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902">
                <a:solidFill>
                  <a:srgbClr val="45818E"/>
                </a:solidFill>
                <a:latin typeface="Poppins"/>
                <a:ea typeface="Poppins"/>
                <a:cs typeface="Poppins"/>
                <a:sym typeface="Poppins"/>
              </a:rPr>
              <a:t>NEEDED BUDGET: 15,000 USD</a:t>
            </a:r>
            <a:endParaRPr b="1" sz="1287">
              <a:solidFill>
                <a:srgbClr val="45818E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" name="Google Shape;66;p3"/>
          <p:cNvSpPr txBox="1"/>
          <p:nvPr/>
        </p:nvSpPr>
        <p:spPr>
          <a:xfrm>
            <a:off x="2740675" y="3562175"/>
            <a:ext cx="3235200" cy="4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2">
              <a:solidFill>
                <a:srgbClr val="0A192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72" name="Google Shape;72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4"/>
          <p:cNvSpPr/>
          <p:nvPr/>
        </p:nvSpPr>
        <p:spPr>
          <a:xfrm>
            <a:off x="428625" y="428625"/>
            <a:ext cx="82867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328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1602"/>
              <a:buFont typeface="Poppins"/>
              <a:buNone/>
            </a:pPr>
            <a:r>
              <a:rPr b="1" lang="en-US" sz="1602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PROVEN IMPACT: GROWING DEMAND FOR AI EDUCATION</a:t>
            </a:r>
            <a:endParaRPr sz="160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4"/>
          <p:cNvSpPr/>
          <p:nvPr/>
        </p:nvSpPr>
        <p:spPr>
          <a:xfrm>
            <a:off x="428625" y="1523795"/>
            <a:ext cx="327420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322"/>
              </a:lnSpc>
              <a:spcBef>
                <a:spcPts val="0"/>
              </a:spcBef>
              <a:spcAft>
                <a:spcPts val="0"/>
              </a:spcAft>
              <a:buClr>
                <a:srgbClr val="6B21A8"/>
              </a:buClr>
              <a:buSzPts val="3293"/>
              <a:buFont typeface="Poppins"/>
              <a:buNone/>
            </a:pPr>
            <a:r>
              <a:rPr b="1" lang="en-US" sz="3293">
                <a:solidFill>
                  <a:srgbClr val="6B21A8"/>
                </a:solidFill>
                <a:latin typeface="Poppins"/>
                <a:ea typeface="Poppins"/>
                <a:cs typeface="Poppins"/>
                <a:sym typeface="Poppins"/>
              </a:rPr>
              <a:t>200+</a:t>
            </a:r>
            <a:endParaRPr sz="329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"/>
          <p:cNvSpPr/>
          <p:nvPr/>
        </p:nvSpPr>
        <p:spPr>
          <a:xfrm>
            <a:off x="428625" y="2016714"/>
            <a:ext cx="3274209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1843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987"/>
              <a:buFont typeface="Poppins"/>
              <a:buNone/>
            </a:pPr>
            <a:r>
              <a:rPr b="1" lang="en-US" sz="987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APPLICATIONS IN 2025</a:t>
            </a:r>
            <a:endParaRPr sz="98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4"/>
          <p:cNvSpPr/>
          <p:nvPr/>
        </p:nvSpPr>
        <p:spPr>
          <a:xfrm>
            <a:off x="428625" y="2516777"/>
            <a:ext cx="327420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322"/>
              </a:lnSpc>
              <a:spcBef>
                <a:spcPts val="0"/>
              </a:spcBef>
              <a:spcAft>
                <a:spcPts val="0"/>
              </a:spcAft>
              <a:buClr>
                <a:srgbClr val="6B21A8"/>
              </a:buClr>
              <a:buSzPts val="3293"/>
              <a:buFont typeface="Poppins"/>
              <a:buNone/>
            </a:pPr>
            <a:r>
              <a:rPr b="1" lang="en-US" sz="3293">
                <a:solidFill>
                  <a:srgbClr val="6B21A8"/>
                </a:solidFill>
                <a:latin typeface="Poppins"/>
                <a:ea typeface="Poppins"/>
                <a:cs typeface="Poppins"/>
                <a:sym typeface="Poppins"/>
              </a:rPr>
              <a:t>115+</a:t>
            </a:r>
            <a:endParaRPr sz="329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428625" y="3009695"/>
            <a:ext cx="3274209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1843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987"/>
              <a:buFont typeface="Poppins"/>
              <a:buNone/>
            </a:pPr>
            <a:r>
              <a:rPr b="1" lang="en-US" sz="987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TOTAL PARTICIPANTS</a:t>
            </a:r>
            <a:endParaRPr sz="98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428625" y="3652633"/>
            <a:ext cx="3274209" cy="7314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34"/>
              <a:buFont typeface="Poppins"/>
              <a:buNone/>
            </a:pPr>
            <a:r>
              <a:rPr lang="en-US" sz="1034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Our track record demonstrates a significant and growing interest in high-level AI education within Armenia and the region. The summer school has become a competitive hub for talent training.
2025 Participation: 35 students (90% with financial aid), 42 industry professionals (paid 100,000 AMD). Participants from: Italy, USA, Russia, Iran, India, Armenia.
2025 Participation: 35 students (90% with financial aid), 42 industry professionals (paid 100,000 AMD). Participants from: Italy, USA, Russia, Iran, India, Armenia.</a:t>
            </a:r>
            <a:endParaRPr sz="10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4131459" y="1357313"/>
            <a:ext cx="4583888" cy="1928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885"/>
              <a:buFont typeface="Poppins"/>
              <a:buNone/>
            </a:pPr>
            <a:r>
              <a:rPr b="1" lang="en-US" sz="985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2025 Participation Breakdown</a:t>
            </a:r>
            <a:endParaRPr sz="98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4131459" y="1693069"/>
            <a:ext cx="4583888" cy="2857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1" name="Google Shape;81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5772" y="1918720"/>
            <a:ext cx="4154091" cy="26431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87" name="Google Shape;87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6838" y="44311"/>
            <a:ext cx="8853485" cy="5087851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"/>
          <p:cNvSpPr/>
          <p:nvPr/>
        </p:nvSpPr>
        <p:spPr>
          <a:xfrm>
            <a:off x="428625" y="428625"/>
            <a:ext cx="8286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328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1602"/>
              <a:buFont typeface="Poppins"/>
              <a:buNone/>
            </a:pPr>
            <a:r>
              <a:rPr b="1" lang="en-US" sz="1602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WORLD-CLASS AI EXPERTISE: FEATURED SPEAKERS</a:t>
            </a:r>
            <a:endParaRPr sz="160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9" name="Google Shape;89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28625" y="1227804"/>
            <a:ext cx="178594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5"/>
          <p:cNvSpPr/>
          <p:nvPr/>
        </p:nvSpPr>
        <p:spPr>
          <a:xfrm>
            <a:off x="714375" y="1227362"/>
            <a:ext cx="1232400" cy="25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4115"/>
              </a:lnSpc>
              <a:spcBef>
                <a:spcPts val="0"/>
              </a:spcBef>
              <a:spcAft>
                <a:spcPts val="0"/>
              </a:spcAft>
              <a:buClr>
                <a:srgbClr val="6B21A8"/>
              </a:buClr>
              <a:buSzPts val="1193"/>
              <a:buFont typeface="Poppins"/>
              <a:buNone/>
            </a:pPr>
            <a:r>
              <a:rPr b="1" lang="en-US" sz="1193">
                <a:solidFill>
                  <a:srgbClr val="6B21A8"/>
                </a:solidFill>
                <a:latin typeface="Poppins"/>
                <a:ea typeface="Poppins"/>
                <a:cs typeface="Poppins"/>
                <a:sym typeface="Poppins"/>
              </a:rPr>
              <a:t>2024 EDITION</a:t>
            </a:r>
            <a:endParaRPr sz="119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428625" y="1706260"/>
            <a:ext cx="3929100" cy="19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885"/>
              <a:buFont typeface="Poppins"/>
              <a:buNone/>
            </a:pPr>
            <a:r>
              <a:rPr b="1" lang="en-US" sz="1000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Armen Aghajanyan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428625" y="1899157"/>
            <a:ext cx="1656300" cy="25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37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Perceptron AI, ex-Meta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428625" y="2236683"/>
            <a:ext cx="3929100" cy="19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885"/>
              <a:buFont typeface="Poppins"/>
              <a:buNone/>
            </a:pPr>
            <a:r>
              <a:rPr b="1" lang="en-US" sz="1000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Erik Arakelyan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428625" y="2429577"/>
            <a:ext cx="10212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3796"/>
              </a:lnSpc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27"/>
              <a:buFont typeface="Poppins"/>
              <a:buNone/>
            </a:pPr>
            <a:r>
              <a:rPr lang="en-US" sz="900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UCPH, NVIDIA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428625" y="2733686"/>
            <a:ext cx="3929100" cy="19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885"/>
              <a:buFont typeface="Poppins"/>
              <a:buNone/>
            </a:pPr>
            <a:r>
              <a:rPr b="1" lang="en-US" sz="1000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Hrayr Harutyunyan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428625" y="2926567"/>
            <a:ext cx="39291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3796"/>
              </a:lnSpc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27"/>
              <a:buFont typeface="Poppins"/>
              <a:buNone/>
            </a:pPr>
            <a:r>
              <a:rPr lang="en-US" sz="900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Google Research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428625" y="3238709"/>
            <a:ext cx="3929100" cy="19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885"/>
              <a:buFont typeface="Poppins"/>
              <a:buNone/>
            </a:pPr>
            <a:r>
              <a:rPr b="1" lang="en-US" sz="1000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Eugene Bagdasaryan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/>
          <p:nvPr/>
        </p:nvSpPr>
        <p:spPr>
          <a:xfrm>
            <a:off x="428625" y="3431591"/>
            <a:ext cx="39291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3796"/>
              </a:lnSpc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27"/>
              <a:buFont typeface="Poppins"/>
              <a:buNone/>
            </a:pPr>
            <a:r>
              <a:rPr lang="en-US" sz="900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Google / UMass Amherst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428625" y="3756433"/>
            <a:ext cx="3929100" cy="19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885"/>
              <a:buFont typeface="Poppins"/>
              <a:buNone/>
            </a:pPr>
            <a:r>
              <a:rPr b="1" lang="en-US" sz="1000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Karen Hambardzumyan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428625" y="3949314"/>
            <a:ext cx="39291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3796"/>
              </a:lnSpc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27"/>
              <a:buFont typeface="Poppins"/>
              <a:buNone/>
            </a:pPr>
            <a:r>
              <a:rPr lang="en-US" sz="900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UCL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428625" y="4261456"/>
            <a:ext cx="3929100" cy="19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885"/>
              <a:buFont typeface="Poppins"/>
              <a:buNone/>
            </a:pPr>
            <a:r>
              <a:rPr b="1" lang="en-US" sz="1000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Jonathan May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428625" y="4454337"/>
            <a:ext cx="39291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3796"/>
              </a:lnSpc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27"/>
              <a:buFont typeface="Poppins"/>
              <a:buNone/>
            </a:pPr>
            <a:r>
              <a:rPr lang="en-US" sz="900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USC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5"/>
          <p:cNvSpPr/>
          <p:nvPr/>
        </p:nvSpPr>
        <p:spPr>
          <a:xfrm>
            <a:off x="428625" y="4695627"/>
            <a:ext cx="3929100" cy="19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885"/>
              <a:buFont typeface="Poppins"/>
              <a:buNone/>
            </a:pPr>
            <a:r>
              <a:rPr b="1" lang="en-US" sz="1000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Jiao Sun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428625" y="4888508"/>
            <a:ext cx="39291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3796"/>
              </a:lnSpc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27"/>
              <a:buFont typeface="Poppins"/>
              <a:buNone/>
            </a:pPr>
            <a:r>
              <a:rPr lang="en-US" sz="900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USC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05" name="Google Shape;105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786313" y="1227804"/>
            <a:ext cx="200025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5"/>
          <p:cNvSpPr/>
          <p:nvPr/>
        </p:nvSpPr>
        <p:spPr>
          <a:xfrm>
            <a:off x="5093494" y="1227362"/>
            <a:ext cx="1227000" cy="25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4115"/>
              </a:lnSpc>
              <a:spcBef>
                <a:spcPts val="0"/>
              </a:spcBef>
              <a:spcAft>
                <a:spcPts val="0"/>
              </a:spcAft>
              <a:buClr>
                <a:srgbClr val="6B21A8"/>
              </a:buClr>
              <a:buSzPts val="1193"/>
              <a:buFont typeface="Poppins"/>
              <a:buNone/>
            </a:pPr>
            <a:r>
              <a:rPr b="1" lang="en-US" sz="1193">
                <a:solidFill>
                  <a:srgbClr val="6B21A8"/>
                </a:solidFill>
                <a:latin typeface="Poppins"/>
                <a:ea typeface="Poppins"/>
                <a:cs typeface="Poppins"/>
                <a:sym typeface="Poppins"/>
              </a:rPr>
              <a:t>2025 EDITION</a:t>
            </a:r>
            <a:endParaRPr sz="119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4786313" y="1639418"/>
            <a:ext cx="3929100" cy="19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885"/>
              <a:buFont typeface="Poppins"/>
              <a:buNone/>
            </a:pPr>
            <a:r>
              <a:rPr b="1" lang="en-US" sz="1000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Armen Aghajanyan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5"/>
          <p:cNvSpPr/>
          <p:nvPr/>
        </p:nvSpPr>
        <p:spPr>
          <a:xfrm>
            <a:off x="4786331" y="1832311"/>
            <a:ext cx="1605900" cy="1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3796"/>
              </a:lnSpc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27"/>
              <a:buFont typeface="Poppins"/>
              <a:buNone/>
            </a:pPr>
            <a:r>
              <a:rPr lang="en-US" sz="900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Perceptron AI, ex-Meta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4786313" y="2219972"/>
            <a:ext cx="3929100" cy="19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885"/>
              <a:buFont typeface="Poppins"/>
              <a:buNone/>
            </a:pPr>
            <a:r>
              <a:rPr b="1" lang="en-US" sz="1000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Alexandre Drouin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5"/>
          <p:cNvSpPr/>
          <p:nvPr/>
        </p:nvSpPr>
        <p:spPr>
          <a:xfrm>
            <a:off x="4786313" y="2412854"/>
            <a:ext cx="39291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3796"/>
              </a:lnSpc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27"/>
              <a:buFont typeface="Poppins"/>
              <a:buNone/>
            </a:pPr>
            <a:r>
              <a:rPr lang="en-US" sz="900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Université Laval (MILA) / ServiceNow Research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4786313" y="2718169"/>
            <a:ext cx="3929100" cy="19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885"/>
              <a:buFont typeface="Poppins"/>
              <a:buNone/>
            </a:pPr>
            <a:r>
              <a:rPr b="1" lang="en-US" sz="1000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Gauthier Gidel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5"/>
          <p:cNvSpPr/>
          <p:nvPr/>
        </p:nvSpPr>
        <p:spPr>
          <a:xfrm>
            <a:off x="4786313" y="2911050"/>
            <a:ext cx="39291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3796"/>
              </a:lnSpc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27"/>
              <a:buFont typeface="Poppins"/>
              <a:buNone/>
            </a:pPr>
            <a:r>
              <a:rPr lang="en-US" sz="900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Université de Montréal (MILA)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4786313" y="3223192"/>
            <a:ext cx="3929100" cy="19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885"/>
              <a:buFont typeface="Poppins"/>
              <a:buNone/>
            </a:pPr>
            <a:r>
              <a:rPr b="1" lang="en-US" sz="1000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Michael Noukhovitch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5"/>
          <p:cNvSpPr/>
          <p:nvPr/>
        </p:nvSpPr>
        <p:spPr>
          <a:xfrm>
            <a:off x="4786313" y="3416074"/>
            <a:ext cx="39291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3796"/>
              </a:lnSpc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27"/>
              <a:buFont typeface="Poppins"/>
              <a:buNone/>
            </a:pPr>
            <a:r>
              <a:rPr lang="en-US" sz="900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Université de Montréal (MILA)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4786313" y="3729576"/>
            <a:ext cx="3929100" cy="19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885"/>
              <a:buFont typeface="Poppins"/>
              <a:buNone/>
            </a:pPr>
            <a:r>
              <a:rPr b="1" lang="en-US" sz="1000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Nouha Dziri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4786330" y="3922437"/>
            <a:ext cx="1605900" cy="19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3796"/>
              </a:lnSpc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27"/>
              <a:buFont typeface="Poppins"/>
              <a:buNone/>
            </a:pPr>
            <a:r>
              <a:rPr lang="en-US" sz="900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Allen Institute for AI (AI2)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22" name="Google Shape;122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6"/>
          <p:cNvSpPr/>
          <p:nvPr/>
        </p:nvSpPr>
        <p:spPr>
          <a:xfrm>
            <a:off x="428625" y="428625"/>
            <a:ext cx="82867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328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1602"/>
              <a:buFont typeface="Poppins"/>
              <a:buNone/>
            </a:pPr>
            <a:r>
              <a:rPr b="1" lang="en-US" sz="1602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THE ORGANIZING TEAM: LEADING THE VISION</a:t>
            </a:r>
            <a:endParaRPr sz="160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0" y="1214438"/>
            <a:ext cx="6429375" cy="3904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10275" spcFirstLastPara="1" rIns="510275" wrap="square" tIns="850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942"/>
              <a:buFont typeface="Poppins"/>
              <a:buNone/>
            </a:pPr>
            <a:r>
              <a:rPr lang="en-US" sz="1042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Our organizing committee brings together leading researchers from top global institutions to drive AI innovation in Armenia.</a:t>
            </a:r>
            <a:endParaRPr sz="104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428625" y="1957388"/>
            <a:ext cx="2619356" cy="1285875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"/>
          <p:cNvSpPr/>
          <p:nvPr/>
        </p:nvSpPr>
        <p:spPr>
          <a:xfrm>
            <a:off x="428625" y="1957388"/>
            <a:ext cx="2619356" cy="28575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6"/>
          <p:cNvSpPr/>
          <p:nvPr/>
        </p:nvSpPr>
        <p:spPr>
          <a:xfrm>
            <a:off x="642938" y="2469059"/>
            <a:ext cx="2190731" cy="235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614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1090"/>
              <a:buFont typeface="Poppins"/>
              <a:buNone/>
            </a:pPr>
            <a:r>
              <a:rPr b="1" lang="en-US" sz="1290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Armen Aghajanyan</a:t>
            </a:r>
            <a:endParaRPr sz="129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642938" y="2776240"/>
            <a:ext cx="2190731" cy="1696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1894"/>
              </a:lnSpc>
              <a:spcBef>
                <a:spcPts val="0"/>
              </a:spcBef>
              <a:spcAft>
                <a:spcPts val="0"/>
              </a:spcAft>
              <a:buClr>
                <a:srgbClr val="6B21A8"/>
              </a:buClr>
              <a:buSzPts val="834"/>
              <a:buFont typeface="Poppins"/>
              <a:buNone/>
            </a:pPr>
            <a:r>
              <a:rPr lang="en-US" sz="1034">
                <a:solidFill>
                  <a:srgbClr val="6B21A8"/>
                </a:solidFill>
                <a:latin typeface="Poppins"/>
                <a:ea typeface="Poppins"/>
                <a:cs typeface="Poppins"/>
                <a:sym typeface="Poppins"/>
              </a:rPr>
              <a:t>PERCEPTRON AI</a:t>
            </a:r>
            <a:endParaRPr sz="10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3262294" y="1957388"/>
            <a:ext cx="2619384" cy="1285875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3262294" y="1957388"/>
            <a:ext cx="2619384" cy="28575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"/>
          <p:cNvSpPr/>
          <p:nvPr/>
        </p:nvSpPr>
        <p:spPr>
          <a:xfrm>
            <a:off x="3476606" y="2469059"/>
            <a:ext cx="2190759" cy="235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614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1090"/>
              <a:buFont typeface="Poppins"/>
              <a:buNone/>
            </a:pPr>
            <a:r>
              <a:rPr b="1" lang="en-US" sz="1290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Erik Arakelyan</a:t>
            </a:r>
            <a:endParaRPr sz="129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3476606" y="2776240"/>
            <a:ext cx="2190759" cy="1696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1894"/>
              </a:lnSpc>
              <a:spcBef>
                <a:spcPts val="0"/>
              </a:spcBef>
              <a:spcAft>
                <a:spcPts val="0"/>
              </a:spcAft>
              <a:buClr>
                <a:srgbClr val="6B21A8"/>
              </a:buClr>
              <a:buSzPts val="834"/>
              <a:buFont typeface="Poppins"/>
              <a:buNone/>
            </a:pPr>
            <a:r>
              <a:rPr lang="en-US" sz="1034">
                <a:solidFill>
                  <a:srgbClr val="6B21A8"/>
                </a:solidFill>
                <a:latin typeface="Poppins"/>
                <a:ea typeface="Poppins"/>
                <a:cs typeface="Poppins"/>
                <a:sym typeface="Poppins"/>
              </a:rPr>
              <a:t>NVIDIA</a:t>
            </a:r>
            <a:endParaRPr sz="10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6095991" y="1957388"/>
            <a:ext cx="2619356" cy="1285875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6"/>
          <p:cNvSpPr/>
          <p:nvPr/>
        </p:nvSpPr>
        <p:spPr>
          <a:xfrm>
            <a:off x="6095991" y="1957388"/>
            <a:ext cx="2619356" cy="28575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6"/>
          <p:cNvSpPr/>
          <p:nvPr/>
        </p:nvSpPr>
        <p:spPr>
          <a:xfrm>
            <a:off x="6310303" y="2469059"/>
            <a:ext cx="2190731" cy="235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614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1090"/>
              <a:buFont typeface="Poppins"/>
              <a:buNone/>
            </a:pPr>
            <a:r>
              <a:rPr b="1" lang="en-US" sz="1290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Aram Galstyan</a:t>
            </a:r>
            <a:endParaRPr sz="129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6310303" y="2776240"/>
            <a:ext cx="2190731" cy="1696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1894"/>
              </a:lnSpc>
              <a:spcBef>
                <a:spcPts val="0"/>
              </a:spcBef>
              <a:spcAft>
                <a:spcPts val="0"/>
              </a:spcAft>
              <a:buClr>
                <a:srgbClr val="6B21A8"/>
              </a:buClr>
              <a:buSzPts val="834"/>
              <a:buFont typeface="Poppins"/>
              <a:buNone/>
            </a:pPr>
            <a:r>
              <a:rPr lang="en-US" sz="1034">
                <a:solidFill>
                  <a:srgbClr val="6B21A8"/>
                </a:solidFill>
                <a:latin typeface="Poppins"/>
                <a:ea typeface="Poppins"/>
                <a:cs typeface="Poppins"/>
                <a:sym typeface="Poppins"/>
              </a:rPr>
              <a:t>USC / AMAZON</a:t>
            </a:r>
            <a:endParaRPr sz="10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428625" y="3457575"/>
            <a:ext cx="2619356" cy="1285875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6"/>
          <p:cNvSpPr/>
          <p:nvPr/>
        </p:nvSpPr>
        <p:spPr>
          <a:xfrm>
            <a:off x="428625" y="3457575"/>
            <a:ext cx="2619356" cy="28575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6"/>
          <p:cNvSpPr/>
          <p:nvPr/>
        </p:nvSpPr>
        <p:spPr>
          <a:xfrm>
            <a:off x="642938" y="3969246"/>
            <a:ext cx="2190731" cy="235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614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1090"/>
              <a:buFont typeface="Poppins"/>
              <a:buNone/>
            </a:pPr>
            <a:r>
              <a:rPr b="1" lang="en-US" sz="1290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Hrant Khachatrian</a:t>
            </a:r>
            <a:endParaRPr sz="129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642938" y="4276427"/>
            <a:ext cx="2190731" cy="1696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1894"/>
              </a:lnSpc>
              <a:spcBef>
                <a:spcPts val="0"/>
              </a:spcBef>
              <a:spcAft>
                <a:spcPts val="0"/>
              </a:spcAft>
              <a:buClr>
                <a:srgbClr val="6B21A8"/>
              </a:buClr>
              <a:buSzPts val="834"/>
              <a:buFont typeface="Poppins"/>
              <a:buNone/>
            </a:pPr>
            <a:r>
              <a:rPr lang="en-US" sz="1034">
                <a:solidFill>
                  <a:srgbClr val="6B21A8"/>
                </a:solidFill>
                <a:latin typeface="Poppins"/>
                <a:ea typeface="Poppins"/>
                <a:cs typeface="Poppins"/>
                <a:sym typeface="Poppins"/>
              </a:rPr>
              <a:t>YEREVANN</a:t>
            </a:r>
            <a:endParaRPr sz="10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/>
          <p:nvPr/>
        </p:nvSpPr>
        <p:spPr>
          <a:xfrm>
            <a:off x="3262294" y="3457575"/>
            <a:ext cx="2619384" cy="1285875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6"/>
          <p:cNvSpPr/>
          <p:nvPr/>
        </p:nvSpPr>
        <p:spPr>
          <a:xfrm>
            <a:off x="3262294" y="3457575"/>
            <a:ext cx="2619384" cy="28575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6"/>
          <p:cNvSpPr/>
          <p:nvPr/>
        </p:nvSpPr>
        <p:spPr>
          <a:xfrm>
            <a:off x="3476606" y="3969246"/>
            <a:ext cx="2190759" cy="235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614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1090"/>
              <a:buFont typeface="Poppins"/>
              <a:buNone/>
            </a:pPr>
            <a:r>
              <a:rPr b="1" lang="en-US" sz="1290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Perouz Taslakian</a:t>
            </a:r>
            <a:endParaRPr sz="129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6"/>
          <p:cNvSpPr/>
          <p:nvPr/>
        </p:nvSpPr>
        <p:spPr>
          <a:xfrm>
            <a:off x="3476606" y="4276427"/>
            <a:ext cx="2190759" cy="1696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1894"/>
              </a:lnSpc>
              <a:spcBef>
                <a:spcPts val="0"/>
              </a:spcBef>
              <a:spcAft>
                <a:spcPts val="0"/>
              </a:spcAft>
              <a:buClr>
                <a:srgbClr val="6B21A8"/>
              </a:buClr>
              <a:buSzPts val="834"/>
              <a:buFont typeface="Poppins"/>
              <a:buNone/>
            </a:pPr>
            <a:r>
              <a:rPr lang="en-US" sz="1034">
                <a:solidFill>
                  <a:srgbClr val="6B21A8"/>
                </a:solidFill>
                <a:latin typeface="Poppins"/>
                <a:ea typeface="Poppins"/>
                <a:cs typeface="Poppins"/>
                <a:sym typeface="Poppins"/>
              </a:rPr>
              <a:t>SERVICENOW RESEARCH</a:t>
            </a:r>
            <a:endParaRPr sz="10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 standalone="yes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49" name="Shape 149"/><p:cNvGrpSpPr/><p:nvPr/></p:nvGrpSpPr><p:grpSpPr><a:xfrm><a:off x="0" y="0"/><a:ext cx="0" cy="0"/><a:chOff x="0" y="0"/><a:chExt cx="0" cy="0"/></a:xfrm></p:grpSpPr><p:pic><p:nvPicPr><p:cNvPr descr="preencoded.png" id="150" name="Google Shape;150;p7"/><p:cNvPicPr preferRelativeResize="0"/><p:nvPr/></p:nvPicPr><p:blipFill rotWithShape="1"><a:blip r:embed="rId3"><a:alphaModFix/></a:blip><a:srcRect b="0" l="0" r="0" t="0"/><a:stretch/></p:blipFill><p:spPr><a:xfrm><a:off x="0" y="977"/><a:ext cx="9144000" cy="5143500"/></a:xfrm><a:prstGeom prst="rect"><a:avLst/></a:prstGeom><a:noFill/><a:ln><a:noFill/></a:ln></p:spPr></p:pic><p:sp><p:nvSpPr><p:cNvPr id="151" name="Google Shape;151;p7"/><p:cNvSpPr/><p:nvPr/></p:nvSpPr><p:spPr><a:xfrm><a:off x="2714625" y="1643063"/><a:ext cx="1571625" cy="857250"/></a:xfrm><a:prstGeom prst="rect"><a:avLst/></a:prstGeom><a:solidFill><a:srgbClr val="F8FAFC"/></a:solidFill><a:ln><a:noFill/></a:ln></p:spPr><p:txBody><a:bodyPr anchorCtr="0" anchor="ctr" bIns="91425" lIns="91425" spcFirstLastPara="1" rIns="91425" wrap="square" tIns="91425"><a:noAutofit/></a:bodyPr><a:lstStyle/><a:p><a:pPr indent="0" lvl="0" marL="0" rtl="0" algn="l"><a:spcBef><a:spcPts val="0"/></a:spcBef><a:spcAft><a:spcPts val="0"/></a:spcAft><a:buNone/></a:pPr><a:r><a:t></a:t></a:r><a:endParaRPr/></a:p></p:txBody></p:sp><p:sp><p:nvSpPr><p:cNvPr id="152" name="Google Shape;152;p7"/><p:cNvSpPr/><p:nvPr/></p:nvSpPr><p:spPr><a:xfrm><a:off x="428625" y="428625"/><a:ext cx="6658500" cy="281700"/></a:xfrm><a:prstGeom prst="rect"><a:avLst/></a:prstGeom><a:noFill/><a:ln><a:noFill/></a:ln></p:spPr><p:txBody><a:bodyPr anchorCtr="0" anchor="t" bIns="0" lIns="0" spcFirstLastPara="1" rIns="0" wrap="square" tIns="0"><a:spAutoFit/></a:bodyPr><a:lstStyle/><a:p><a:pPr indent="0" lvl="0" marL="0" marR="0" rtl="0" algn="l"><a:lnSpc><a:spcPct val="137328"/></a:lnSpc><a:spcBef><a:spcPts val="0"/></a:spcBef><a:spcAft><a:spcPts val="0"/></a:spcAft><a:buClr><a:srgbClr val="0A192F"/></a:buClr><a:buSzPts val="1602"/><a:buFont typeface="Poppins"/><a:buNone/></a:pPr><a:r><a:rPr b="1" lang="en-US" sz="1602"><a:solidFill><a:srgbClr val="0A192F"/></a:solidFill><a:latin typeface="Poppins"/><a:ea typeface="Poppins"/><a:cs typeface="Poppins"/><a:sym typeface="Poppins"/></a:rPr><a:t>OUR PARTNERS AND SUPPORTERS OF PREVIOUS EDITIONS</a:t></a:r><a:endParaRPr sz="1602"><a:solidFill><a:schemeClr val="dk1"/></a:solidFill><a:latin typeface="Calibri"/><a:ea typeface="Calibri"/><a:cs typeface="Calibri"/><a:sym typeface="Calibri"/></a:endParaRPr></a:p></p:txBody></p:sp><p:sp><p:nvSpPr><p:cNvPr id="153" name="Google Shape;153;p7"/><p:cNvSpPr/><p:nvPr/></p:nvSpPr><p:spPr><a:xfrm><a:off x="2714625" y="1643063"/><a:ext cx="1571625" cy="28575"/></a:xfrm><a:prstGeom prst="rect"><a:avLst/></a:prstGeom><a:solidFill><a:srgbClr val="6B21A8"/></a:solidFill><a:ln><a:noFill/></a:ln></p:spPr><p:txBody><a:bodyPr anchorCtr="0" anchor="ctr" bIns="91425" lIns="91425" spcFirstLastPara="1" rIns="91425" wrap="square" tIns="91425"><a:noAutofit/></a:bodyPr><a:lstStyle/><a:p><a:pPr indent="0" lvl="0" marL="0" rtl="0" algn="l"><a:spcBef><a:spcPts val="0"/></a:spcBef><a:spcAft><a:spcPts val="0"/></a:spcAft><a:buNone/></a:pPr><a:r><a:t></a:t></a:r><a:endParaRPr/></a:p></p:txBody></p:sp><p:sp><p:nvSpPr><p:cNvPr id="154" name="Google Shape;154;p7"/><p:cNvSpPr/><p:nvPr/></p:nvSpPr><p:spPr><a:xfrm><a:off x="0" y="4272855"/><a:ext cx="9144000" cy="884039"/></a:xfrm><a:prstGeom prst="rect"><a:avLst/></a:prstGeom><a:noFill/><a:ln><a:noFill/></a:ln></p:spPr><p:txBody><a:bodyPr anchorCtr="0" anchor="t" bIns="510275" lIns="510275" spcFirstLastPara="1" rIns="510275" wrap="square" tIns="340225"><a:spAutoFit/></a:bodyPr><a:lstStyle/><a:p><a:pPr indent="0" lvl="0" marL="0" marR="0" rtl="0" algn="ctr"><a:lnSpc><a:spcPct val="131894"/></a:lnSpc><a:spcBef><a:spcPts val="0"/></a:spcBef><a:spcAft><a:spcPts val="0"/></a:spcAft><a:buClr><a:srgbClr val="334155"/></a:buClr><a:buSzPts val="834"/><a:buFont typeface="Poppins"/><a:buNone/></a:pPr><a:r><a:rPr lang="en-US" sz="1134"><a:solidFill><a:srgbClr val="334155"/></a:solidFill><a:latin typeface="Poppins"/><a:ea typeface="Poppins"/><a:cs typeface="Poppins"/><a:sym typeface="Poppins"/></a:rPr><a:t>We are grateful for the continued support of our partners in building Armenia's AI ecosystem.

Armenia Fund: speaker travel & accommodation for 2025. Nebius: compute infrastructure partner. AI9 & AUA: venue partners. Arcs AI & ASOF: facilitated Armenia Fund and Summer School collaboration. Picsart: travel & speaker accommodation for 2024. Profound Academy: platform for entrance exam.

Collaborations: Martha Hovhannesian—Legal aspects of LLMs (post-school talk). Perouz Taslakian—AI Agents lecture at Yandex Hall. Picsart—office tour for participants.

Armenia Fund: speaker travel & accommodation for 2025. Nebius: compute infrastructure partner. AI9 & AUA: venue partners. Arcs AI & ASOF: facilitated Armenia Fund and Summer School collaboration. Picsart: travel & speaker accommodation for 2024. Profound Academy: platform for entrance exam.</a:t></a:r><a:endParaRPr sz="1134"><a:solidFill><a:schemeClr val="dk1"/></a:solidFill><a:latin typeface="Calibri"/><a:ea typeface="Calibri"/><a:cs typeface="Calibri"/><a:sym typeface="Calibri"/></a:endParaRPr></a:p></p:txBody></p:sp><p:sp><p:nvSpPr><p:cNvPr id="155" name="Google Shape;155;p7"/><p:cNvSpPr/><p:nvPr/></p:nvSpPr><p:spPr><a:xfrm><a:off x="571500" y="1640384"/><a:ext cx="1571625" cy="857250"/></a:xfrm><a:prstGeom prst="rect"><a:avLst/></a:prstGeom><a:solidFill><a:srgbClr val="F8FAFC"/></a:solidFill><a:ln><a:noFill/></a:ln></p:spPr><p:txBody><a:bodyPr anchorCtr="0" anchor="ctr" bIns="91425" lIns="91425" spcFirstLastPara="1" rIns="91425" wrap="square" tIns="91425"><a:noAutofit/></a:bodyPr><a:lstStyle/><a:p><a:pPr indent="0" lvl="0" marL="0" rtl="0" algn="l"><a:spcBef><a:spcPts val="0"/></a:spcBef><a:spcAft><a:spcPts val="0"/></a:spcAft><a:buNone/></a:pPr><a:r><a:t></a:t></a:r><a:endParaRPr/></a:p></p:txBody></p:sp><p:sp><p:nvSpPr><p:cNvPr id="156" name="Google Shape;156;p7"/><p:cNvSpPr/><p:nvPr/></p:nvSpPr><p:spPr><a:xfrm><a:off x="571500" y="1640384"/><a:ext cx="1571625" cy="28575"/></a:xfrm><a:prstGeom prst="rect"><a:avLst/></a:prstGeom><a:solidFill><a:srgbClr val="6B21A8"/></a:solidFill><a:ln><a:noFill/></a:ln></p:spPr><p:txBody><a:bodyPr anchorCtr="0" anchor="ctr" bIns="91425" lIns="91425" spcFirstLastPara="1" rIns="91425" wrap="square" tIns="91425"><a:noAutofit/></a:bodyPr><a:lstStyle/><a:p><a:pPr indent="0" lvl="0" marL="0" rtl="0" algn="l"><a:spcBef><a:spcPts val="0"/></a:spcBef><a:spcAft><a:spcPts val="0"/></a:spcAft><a:buNone/></a:pPr><a:r><a:t></a:t></a:r><a:endParaRPr/></a:p></p:txBody></p:sp><p:sp><p:nvSpPr><p:cNvPr id="157" name="Google Shape;157;p7"/><p:cNvSpPr/><p:nvPr/></p:nvSpPr><p:spPr><a:xfrm><a:off x="4857750" y="1640384"/><a:ext cx="1571625" cy="857250"/></a:xfrm><a:prstGeom prst="rect"><a:avLst/></a:prstGeom><a:solidFill><a:srgbClr val="F8FAFC"/></a:solidFill><a:ln><a:noFill/></a:ln></p:spPr><p:txBody><a:bodyPr anchorCtr="0" anchor="ctr" bIns="91425" lIns="91425" spcFirstLastPara="1" rIns="91425" wrap="square" tIns="91425"><a:noAutofit/></a:bodyPr><a:lstStyle/><a:p><a:pPr indent="0" lvl="0" marL="0" rtl="0" algn="l"><a:spcBef><a:spcPts val="0"/></a:spcBef><a:spcAft><a:spcPts val="0"/></a:spcAft><a:buNone/></a:pPr><a:r><a:t></a:t></a:r><a:endParaRPr/></a:p></p:txBody></p:sp><p:sp><p:nvSpPr><p:cNvPr id="158" name="Google Shape;158;p7"/><p:cNvSpPr/><p:nvPr/></p:nvSpPr><p:spPr><a:xfrm><a:off x="4857750" y="1640384"/><a:ext cx="1571625" cy="28575"/></a:xfrm><a:prstGeom prst="rect"><a:avLst/></a:prstGeom><a:solidFill><a:srgbClr val="6B21A8"/></a:solidFill><a:ln><a:noFill/></a:ln></p:spPr><p:txBody><a:bodyPr anchorCtr="0" anchor="ctr" bIns="91425" lIns="91425" spcFirstLastPara="1" rIns="91425" wrap="square" tIns="91425"><a:noAutofit/></a:bodyPr><a:lstStyle/><a:p><a:pPr indent="0" lvl="0" marL="0" rtl="0" algn="l"><a:spcBef><a:spcPts val="0"/></a:spcBef><a:spcAft><a:spcPts val="0"/></a:spcAft><a:buNone/></a:pPr><a:r><a:t></a:t></a:r><a:endParaRPr/></a:p></p:txBody></p:sp><p:sp><p:nvSpPr><p:cNvPr id="159" name="Google Shape;159;p7"/><p:cNvSpPr/><p:nvPr/></p:nvSpPr><p:spPr><a:xfrm><a:off x="7000875" y="1640384"/><a:ext cx="1571625" cy="857250"/></a:xfrm><a:prstGeom prst="rect"><a:avLst/></a:prstGeom><a:solidFill><a:srgbClr val="F8FAFC"/></a:solidFill><a:ln><a:noFill/></a:ln></p:spPr><p:txBody><a:bodyPr anchorCtr="0" anchor="ctr" bIns="91425" lIns="91425" spcFirstLastPara="1" rIns="91425" wrap="square" tIns="91425"><a:noAutofit/></a:bodyPr><a:lstStyle/><a:p><a:pPr indent="0" lvl="0" marL="0" rtl="0" algn="l"><a:spcBef><a:spcPts val="0"/></a:spcBef><a:spcAft><a:spcPts val="0"/></a:spcAft><a:buNone/></a:pPr><a:r><a:t></a:t></a:r><a:endParaRPr/></a:p></p:txBody></p:sp><p:sp><p:nvSpPr><p:cNvPr id="160" name="Google Shape;160;p7"/><p:cNvSpPr/><p:nvPr/></p:nvSpPr><p:spPr><a:xfrm><a:off x="7000875" y="1640384"/><a:ext cx="1571625" cy="28575"/></a:xfrm><a:prstGeom prst="rect"><a:avLst/></a:prstGeom><a:solidFill><a:srgbClr val="6B21A8"/></a:solidFill><a:ln><a:noFill/></a:ln></p:spPr><p:txBody><a:bodyPr anchorCtr="0" anchor="ctr" bIns="91425" lIns="91425" spcFirstLastPara="1" rIns="91425" wrap="square" tIns="91425"><a:noAutofit/></a:bodyPr><a:lstStyle/><a:p><a:pPr indent="0" lvl="0" marL="0" rtl="0" algn="l"><a:spcBef><a:spcPts val="0"/></a:spcBef><a:spcAft><a:spcPts val="0"/></a:spcAft><a:buNone/></a:pPr><a:r><a:t></a:t></a:r><a:endParaRPr/></a:p></p:txBody></p:sp><p:sp><p:nvSpPr><p:cNvPr id="161" name="Google Shape;161;p7"/><p:cNvSpPr/><p:nvPr/></p:nvSpPr><p:spPr><a:xfrm><a:off x="2714625" y="3007965"/><a:ext cx="1571625" cy="857250"/></a:xfrm><a:prstGeom prst="rect"><a:avLst/></a:prstGeom><a:solidFill><a:srgbClr val="F8FAFC"/></a:solidFill><a:ln><a:noFill/></a:ln></p:spPr><p:txBody><a:bodyPr anchorCtr="0" anchor="ctr" bIns="91425" lIns="91425" spcFirstLastPara="1" rIns="91425" wrap="square" tIns="91425"><a:noAutofit/></a:bodyPr><a:lstStyle/><a:p><a:pPr indent="0" lvl="0" marL="0" rtl="0" algn="l"><a:spcBef><a:spcPts val="0"/></a:spcBef><a:spcAft><a:spcPts val="0"/></a:spcAft><a:buNone/></a:pPr><a:r><a:t></a:t></a:r><a:endParaRPr/></a:p></p:txBody></p:sp><p:sp><p:nvSpPr><p:cNvPr id="162" name="Google Shape;162;p7"/><p:cNvSpPr/><p:nvPr/></p:nvSpPr><p:spPr><a:xfrm><a:off x="2714625" y="3007965"/><a:ext cx="1571625" cy="28575"/></a:xfrm><a:prstGeom prst="rect"><a:avLst/></a:prstGeom><a:solidFill><a:srgbClr val="6B21A8"/></a:solidFill><a:ln><a:noFill/></a:ln></p:spPr><p:txBody><a:bodyPr anchorCtr="0" anchor="ctr" bIns="91425" lIns="91425" spcFirstLastPara="1" rIns="91425" wrap="square" tIns="91425"><a:noAutofit/></a:bodyPr><a:lstStyle/><a:p><a:pPr indent="0" lvl="0" marL="0" rtl="0" algn="l"><a:spcBef><a:spcPts val="0"/></a:spcBef><a:spcAft><a:spcPts val="0"/></a:spcAft><a:buNone/></a:pPr><a:r><a:t></a:t></a:r><a:endParaRPr/></a:p></p:txBody></p:sp><p:sp><p:nvSpPr><p:cNvPr id="163" name="Google Shape;163;p7"/><p:cNvSpPr/><p:nvPr/></p:nvSpPr><p:spPr><a:xfrm><a:off x="571500" y="3005286"/><a:ext cx="1571625" cy="857250"/></a:xfrm><a:prstGeom prst="rect"><a:avLst/></a:prstGeom><a:solidFill><a:srgbClr val="F8FAFC"/></a:solidFill><a:ln><a:noFill/></a:ln></p:spPr><p:txBody><a:bodyPr anchorCtr="0" anchor="ctr" bIns="91425" lIns="91425" spcFirstLastPara="1" rIns="91425" wrap="square" tIns="91425"><a:noAutofit/></a:bodyPr><a:lstStyle/><a:p><a:pPr indent="0" lvl="0" marL="0" rtl="0" algn="l"><a:spcBef><a:spcPts val="0"/></a:spcBef><a:spcAft><a:spcPts val="0"/></a:spcAft><a:buNone/></a:pPr><a:r><a:t></a:t></a:r><a:endParaRPr/></a:p></p:txBody></p:sp><p:sp><p:nvSpPr><p:cNvPr id="164" name="Google Shape;164;p7"/><p:cNvSpPr/><p:nvPr/></p:nvSpPr><p:spPr><a:xfrm><a:off x="571500" y="3005286"/><a:ext cx="1571625" cy="28575"/></a:xfrm><a:prstGeom prst="rect"><a:avLst/></a:prstGeom><a:solidFill><a:srgbClr val="6B21A8"/></a:solidFill><a:ln><a:noFill/></a:ln></p:spPr><p:txBody><a:bodyPr anchorCtr="0" anchor="ctr" bIns="91425" lIns="91425" spcFirstLastPara="1" rIns="91425" wrap="square" tIns="91425"><a:noAutofit/></a:bodyPr><a:lstStyle/><a:p><a:pPr indent="0" lvl="0" marL="0" rtl="0" algn="l"><a:spcBef><a:spcPts val="0"/></a:spcBef><a:spcAft><a:spcPts val="0"/></a:spcAft><a:buNone/></a:pPr><a:r><a:t></a:t></a:r><a:endParaRPr/></a:p></p:txBody></p:sp><p:sp><p:nvSpPr><p:cNvPr id="165" name="Google Shape;165;p7"/><p:cNvSpPr/><p:nvPr/></p:nvSpPr><p:spPr><a:xfrm><a:off x="4857750" y="3005286"/><a:ext cx="1571625" cy="857250"/></a:xfrm><a:prstGeom prst="rect"><a:avLst/></a:prstGeom><a:solidFill><a:srgbClr val="F8FAFC"/></a:solidFill><a:ln><a:noFill/></a:ln></p:spPr><p:txBody><a:bodyPr anchorCtr="0" anchor="ctr" bIns="91425" lIns="91425" spcFirstLastPara="1" rIns="91425" wrap="square" tIns="91425"><a:noAutofit/></a:bodyPr><a:lstStyle/><a:p><a:pPr indent="0" lvl="0" marL="0" rtl="0" algn="l"><a:spcBef><a:spcPts val="0"/></a:spcBef><a:spcAft><a:spcPts val="0"/></a:spcAft><a:buNone/></a:pPr><a:r><a:t></a:t></a:r><a:endParaRPr/></a:p></p:txBody></p:sp><p:sp><p:nvSpPr><p:cNvPr id="166" name="Google Shape;166;p7"/><p:cNvSpPr/><p:nvPr/></p:nvSpPr><p:spPr><a:xfrm><a:off x="4857750" y="3005286"/><a:ext cx="1571625" cy="28575"/></a:xfrm><a:prstGeom prst="rect"><a:avLst/></a:prstGeom><a:solidFill><a:srgbClr val="6B21A8"/></a:solidFill><a:ln><a:noFill/></a:ln></p:spPr><p:txBody><a:bodyPr anchorCtr="0" anchor="ctr" bIns="91425" lIns="91425" spcFirstLastPara="1" rIns="91425" wrap="square" tIns="91425"><a:noAutofit/></a:bodyPr><a:lstStyle/><a:p><a:pPr indent="0" lvl="0" marL="0" rtl="0" algn="l"><a:spcBef><a:spcPts val="0"/></a:spcBef><a:spcAft><a:spcPts val="0"/></a:spcAft><a:buNone/></a:pPr><a:r><a:t></a:t></a:r><a:endParaRPr/></a:p></p:txBody></p:sp><p:sp><p:nvSpPr><p:cNvPr id="167" name="Google Shape;167;p7"/><p:cNvSpPr/><p:nvPr/></p:nvSpPr><p:spPr><a:xfrm><a:off x="7000875" y="3005286"/><a:ext cx="1571625" cy="857250"/></a:xfrm><a:prstGeom prst="rect"><a:avLst/></a:prstGeom><a:solidFill><a:srgbClr val="F8FAFC"/></a:solidFill><a:ln><a:noFill/></a:ln></p:spPr><p:txBody><a:bodyPr anchorCtr="0" anchor="ctr" bIns="91425" lIns="91425" spcFirstLastPara="1" rIns="91425" wrap="square" tIns="91425"><a:noAutofit/></a:bodyPr><a:lstStyle/><a:p><a:pPr indent="0" lvl="0" marL="0" rtl="0" algn="l"><a:spcBef><a:spcPts val="0"/></a:spcBef><a:spcAft><a:spcPts val="0"/></a:spcAft><a:buNone/></a:pPr><a:r><a:t></a:t></a:r><a:endParaRPr/></a:p></p:txBody></p:sp><p:sp><p:nvSpPr><p:cNvPr id="168" name="Google Shape;168;p7"/><p:cNvSpPr/><p:nvPr/></p:nvSpPr><p:spPr><a:xfrm><a:off x="7000875" y="3005286"/><a:ext cx="1571625" cy="28575"/></a:xfrm><a:prstGeom prst="rect"><a:avLst/></a:prstGeom><a:solidFill><a:srgbClr val="6B21A8"/></a:solidFill><a:ln><a:noFill/></a:ln></p:spPr><p:txBody><a:bodyPr anchorCtr="0" anchor="ctr" bIns="91425" lIns="91425" spcFirstLastPara="1" rIns="91425" wrap="square" tIns="91425"><a:noAutofit/></a:bodyPr><a:lstStyle/><a:p><a:pPr indent="0" lvl="0" marL="0" rtl="0" algn="l"><a:spcBef><a:spcPts val="0"/></a:spcBef><a:spcAft><a:spcPts val="0"/></a:spcAft><a:buNone/></a:pPr><a:r><a:t></a:t></a:r><a:endParaRPr/></a:p></p:txBody></p:sp><p:pic><p:nvPicPr><p:cNvPr id="169" name="Google Shape;169;p7"/><p:cNvPicPr preferRelativeResize="0"/><p:nvPr/></p:nvPicPr><p:blipFill rotWithShape="1"><a:blip r:embed="rId4"><a:alphaModFix/></a:blip><a:srcRect b="0" l="0" r="0" t="0"/><a:stretch/></p:blipFill><p:spPr><a:xfrm><a:off x="734511" y="3307333"/><a:ext cx="1206387" cy="281731"/></a:xfrm><a:prstGeom prst="rect"><a:avLst/></a:prstGeom><a:noFill/><a:ln><a:noFill/></a:ln></p:spPr></p:pic><p:pic><p:nvPicPr><p:cNvPr id="170" name="Google Shape;170;p7"/><p:cNvPicPr preferRelativeResize="0"/><p:nvPr/></p:nvPicPr><p:blipFill rotWithShape="1"><a:blip r:embed="rId5"><a:alphaModFix/></a:blip><a:srcRect b="0" l="0" r="0" t="0"/><a:stretch/></p:blipFill><p:spPr><a:xfrm><a:off x="7341942" y="3239247"/><a:ext cx="889489" cy="417902"/></a:xfrm><a:prstGeom prst="rect"><a:avLst/></a:prstGeom><a:noFill/><a:ln><a:noFill/></a:ln></p:spPr></p:pic><p:pic><p:nvPicPr><p:cNvPr id="171" name="Google Shape;171;p7"/><p:cNvPicPr preferRelativeResize="0"/><p:nvPr/></p:nvPicPr><p:blipFill rotWithShape="1"><a:blip r:embed="rId6"><a:alphaModFix/></a:blip><a:srcRect b="0" l="0" r="0" t="0"/><a:stretch/></p:blipFill><p:spPr><a:xfrm><a:off x="2854892" y="3339172"/><a:ext cx="1291090" cy="194837"/></a:xfrm><a:prstGeom prst="rect"><a:avLst/></a:prstGeom><a:noFill/><a:ln><a:noFill/></a:ln></p:spPr></p:pic><p:pic><p:nvPicPr><p:cNvPr id="172" name="Google Shape;172;p7"/><p:cNvPicPr preferRelativeResize="0"/><p:nvPr/></p:nvPicPr><p:blipFill rotWithShape="1"><a:blip r:embed="rId7"><a:alphaModFix/></a:blip><a:srcRect b="0" l="0" r="0" t="0"/><a:stretch/></p:blipFill><p:spPr><a:xfrm><a:off x="895683" y="1613891"/><a:ext cx="878384" cy="878384"/></a:xfrm><a:prstGeom prst="rect"><a:avLst/></a:prstGeom><a:noFill/><a:ln><a:noFill/></a:ln></p:spPr></p:pic><p:pic><p:nvPicPr><p:cNvPr id="173" name="Google Shape;173;p7"/><p:cNvPicPr preferRelativeResize="0"/><p:nvPr/></p:nvPicPr><p:blipFill rotWithShape="1"><a:blip r:embed="rId8"><a:alphaModFix/></a:blip><a:srcRect b="0" l="0" r="0" t="0"/><a:stretch/></p:blipFill><p:spPr><a:xfrm><a:off x="4947840" y="1893060"/><a:ext cx="1391445" cy="380473"/></a:xfrm><a:prstGeom prst="rect"><a:avLst/></a:prstGeom><a:noFill/><a:ln><a:noFill/></a:ln></p:spPr></p:pic><p:pic><p:nvPicPr><p:cNvPr id="174" name="Google Shape;174;p7"/><p:cNvPicPr preferRelativeResize="0"/><p:nvPr/></p:nvPicPr><p:blipFill rotWithShape="1"><a:blip r:embed="rId9"><a:alphaModFix/></a:blip><a:srcRect b="0" l="0" r="0" t="0"/><a:stretch/></p:blipFill><p:spPr><a:xfrm><a:off x="7435621" y="1717944"/><a:ext cx="702129" cy="702129"/></a:xfrm><a:prstGeom prst="rect"><a:avLst/></a:prstGeom><a:noFill/><a:ln><a:noFill/></a:ln></p:spPr></p:pic><p:pic><p:nvPicPr><p:cNvPr id="175" name="Google Shape;175;p7"/><p:cNvPicPr preferRelativeResize="0"/><p:nvPr/></p:nvPicPr><p:blipFill rotWithShape="1"><a:blip r:embed="rId10"><a:alphaModFix/></a:blip><a:srcRect b="0" l="0" r="0" t="0"/><a:stretch/></p:blipFill><p:spPr><a:xfrm><a:off x="5307805" y="3111771"/><a:ext cx="671514" cy="671514"/></a:xfrm><a:prstGeom prst="rect"><a:avLst/></a:prstGeom><a:noFill/><a:ln><a:noFill/></a:ln></p:spPr></p:pic><p:pic><p:nvPicPr><p:cNvPr id="176" name="Google Shape;176;p7" title="67d25f39a9af6b056066b8ae_ARCS-ai logo-p-800.png"/><p:cNvPicPr preferRelativeResize="0"/><p:nvPr/></p:nvPicPr><p:blipFill><a:blip r:embed="rId11"><a:alphaModFix/></a:blip><a:stretch><a:fillRect/></a:stretch></p:blipFill><p:spPr><a:xfrm><a:off x="3134350" y="1717200"/><a:ext cx="732176" cy="732176"/></a:xfrm><a:prstGeom prst="rect"><a:avLst/></a:prstGeom><a:solidFill><a:srgbClr val="F8FAFC"/></a:solidFill><a:ln><a:noFill/></a:ln></p:spPr></p:pic></p:spTree></p:cSld><p:clrMapOvr><a:masterClrMapping/></p:clrMapOvr>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82" name="Google Shape;182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977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8"/>
          <p:cNvSpPr/>
          <p:nvPr/>
        </p:nvSpPr>
        <p:spPr>
          <a:xfrm>
            <a:off x="428625" y="428625"/>
            <a:ext cx="82867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328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1602"/>
              <a:buFont typeface="Poppins"/>
              <a:buNone/>
            </a:pPr>
            <a:r>
              <a:rPr b="1" lang="en-US" sz="1602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MEDIA HIGHLIGHTS: CAPTURING THE MOMENTUM</a:t>
            </a:r>
            <a:endParaRPr sz="160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84" name="Google Shape;184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28625" y="1023832"/>
            <a:ext cx="1428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8"/>
          <p:cNvSpPr/>
          <p:nvPr/>
        </p:nvSpPr>
        <p:spPr>
          <a:xfrm>
            <a:off x="657225" y="1013513"/>
            <a:ext cx="1250100" cy="21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1843"/>
              </a:lnSpc>
              <a:spcBef>
                <a:spcPts val="0"/>
              </a:spcBef>
              <a:spcAft>
                <a:spcPts val="0"/>
              </a:spcAft>
              <a:buClr>
                <a:srgbClr val="6B21A8"/>
              </a:buClr>
              <a:buSzPts val="987"/>
              <a:buFont typeface="Poppins"/>
              <a:buNone/>
            </a:pPr>
            <a:r>
              <a:rPr b="1" lang="en-US" sz="1087">
                <a:solidFill>
                  <a:srgbClr val="6B21A8"/>
                </a:solidFill>
                <a:latin typeface="Poppins"/>
                <a:ea typeface="Poppins"/>
                <a:cs typeface="Poppins"/>
                <a:sym typeface="Poppins"/>
              </a:rPr>
              <a:t>Press &amp; Podcasts</a:t>
            </a:r>
            <a:endParaRPr sz="108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608153" y="1627389"/>
            <a:ext cx="12261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1771"/>
              </a:lnSpc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837"/>
              <a:buFont typeface="Poppins"/>
              <a:buNone/>
            </a:pPr>
            <a:r>
              <a:rPr b="1" lang="en-US" sz="937" u="sng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6"/>
              </a:rPr>
              <a:t>News.am Coverage</a:t>
            </a:r>
            <a:endParaRPr sz="93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8"/>
          <p:cNvSpPr/>
          <p:nvPr/>
        </p:nvSpPr>
        <p:spPr>
          <a:xfrm>
            <a:off x="608153" y="1862270"/>
            <a:ext cx="9459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1771"/>
              </a:lnSpc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837"/>
              <a:buFont typeface="Poppins"/>
              <a:buNone/>
            </a:pPr>
            <a:r>
              <a:rPr b="1" lang="en-US" sz="937" u="sng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7"/>
              </a:rPr>
              <a:t>ArmPublicTV</a:t>
            </a:r>
            <a:endParaRPr sz="93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8"/>
          <p:cNvSpPr/>
          <p:nvPr/>
        </p:nvSpPr>
        <p:spPr>
          <a:xfrm>
            <a:off x="608153" y="2097151"/>
            <a:ext cx="12303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1771"/>
              </a:lnSpc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837"/>
              <a:buFont typeface="Poppins"/>
              <a:buNone/>
            </a:pPr>
            <a:r>
              <a:rPr b="1" lang="en-US" sz="937" u="sng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8"/>
              </a:rPr>
              <a:t>EVN Report Podcast</a:t>
            </a:r>
            <a:endParaRPr sz="93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608153" y="2332033"/>
            <a:ext cx="17253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1771"/>
              </a:lnSpc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837"/>
              <a:buFont typeface="Poppins"/>
              <a:buNone/>
            </a:pPr>
            <a:r>
              <a:rPr b="1" lang="en-US" sz="937" u="sng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9"/>
              </a:rPr>
              <a:t>iTel Tech News</a:t>
            </a:r>
            <a:endParaRPr sz="93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90" name="Google Shape;190;p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3262325" y="1034782"/>
            <a:ext cx="16073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8"/>
          <p:cNvSpPr/>
          <p:nvPr/>
        </p:nvSpPr>
        <p:spPr>
          <a:xfrm>
            <a:off x="3508784" y="1024463"/>
            <a:ext cx="1037700" cy="21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1843"/>
              </a:lnSpc>
              <a:spcBef>
                <a:spcPts val="0"/>
              </a:spcBef>
              <a:spcAft>
                <a:spcPts val="0"/>
              </a:spcAft>
              <a:buClr>
                <a:srgbClr val="6B21A8"/>
              </a:buClr>
              <a:buSzPts val="987"/>
              <a:buFont typeface="Poppins"/>
              <a:buNone/>
            </a:pPr>
            <a:r>
              <a:rPr b="1" lang="en-US" sz="1087">
                <a:solidFill>
                  <a:srgbClr val="6B21A8"/>
                </a:solidFill>
                <a:latin typeface="Poppins"/>
                <a:ea typeface="Poppins"/>
                <a:cs typeface="Poppins"/>
                <a:sym typeface="Poppins"/>
              </a:rPr>
              <a:t>Video &amp; Social</a:t>
            </a:r>
            <a:endParaRPr sz="108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92" name="Google Shape;192;p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3185708" y="1414618"/>
            <a:ext cx="76628" cy="122606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8"/>
          <p:cNvSpPr/>
          <p:nvPr/>
        </p:nvSpPr>
        <p:spPr>
          <a:xfrm>
            <a:off x="3365661" y="1393625"/>
            <a:ext cx="15282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1771"/>
              </a:lnSpc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837"/>
              <a:buFont typeface="Poppins"/>
              <a:buNone/>
            </a:pPr>
            <a:r>
              <a:rPr b="1" lang="en-US" sz="937" u="sng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12"/>
              </a:rPr>
              <a:t>2025 Recordings Playlist</a:t>
            </a:r>
            <a:endParaRPr sz="93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94" name="Google Shape;194;p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3185708" y="1688289"/>
            <a:ext cx="76628" cy="122606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8"/>
          <p:cNvSpPr/>
          <p:nvPr/>
        </p:nvSpPr>
        <p:spPr>
          <a:xfrm>
            <a:off x="3365661" y="1667296"/>
            <a:ext cx="13815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1771"/>
              </a:lnSpc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837"/>
              <a:buFont typeface="Poppins"/>
              <a:buNone/>
            </a:pPr>
            <a:r>
              <a:rPr b="1" lang="en-US" sz="937" u="sng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14"/>
              </a:rPr>
              <a:t>Բա իմացար</a:t>
            </a:r>
            <a:endParaRPr b="1" sz="93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96" name="Google Shape;196;p8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3185708" y="1961961"/>
            <a:ext cx="76628" cy="12260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8"/>
          <p:cNvSpPr/>
          <p:nvPr/>
        </p:nvSpPr>
        <p:spPr>
          <a:xfrm>
            <a:off x="3365661" y="1940968"/>
            <a:ext cx="17886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1771"/>
              </a:lnSpc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837"/>
              <a:buFont typeface="Poppins"/>
              <a:buNone/>
            </a:pPr>
            <a:r>
              <a:rPr b="1" lang="en-US" sz="937" u="sng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16"/>
              </a:rPr>
              <a:t>LinkedIn Community Update</a:t>
            </a:r>
            <a:endParaRPr sz="93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98" name="Google Shape;198;p8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3185708" y="2235634"/>
            <a:ext cx="76628" cy="122606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8"/>
          <p:cNvSpPr/>
          <p:nvPr/>
        </p:nvSpPr>
        <p:spPr>
          <a:xfrm>
            <a:off x="3365661" y="2214639"/>
            <a:ext cx="13332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1771"/>
              </a:lnSpc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837"/>
              <a:buFont typeface="Poppins"/>
              <a:buNone/>
            </a:pPr>
            <a:r>
              <a:rPr b="1" lang="en-US" sz="937" u="sng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18"/>
              </a:rPr>
              <a:t>Instagram Highlights</a:t>
            </a:r>
            <a:endParaRPr sz="93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8"/>
          <p:cNvSpPr/>
          <p:nvPr/>
        </p:nvSpPr>
        <p:spPr>
          <a:xfrm>
            <a:off x="428653" y="2858891"/>
            <a:ext cx="2619300" cy="28500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8"/>
          <p:cNvSpPr/>
          <p:nvPr/>
        </p:nvSpPr>
        <p:spPr>
          <a:xfrm>
            <a:off x="3262322" y="2858891"/>
            <a:ext cx="2619300" cy="28500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8"/>
          <p:cNvSpPr/>
          <p:nvPr/>
        </p:nvSpPr>
        <p:spPr>
          <a:xfrm>
            <a:off x="6096019" y="2858891"/>
            <a:ext cx="2619300" cy="28500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03" name="Google Shape;203;p8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428653" y="2926358"/>
            <a:ext cx="2619357" cy="174964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8"/>
          <p:cNvPicPr preferRelativeResize="0"/>
          <p:nvPr/>
        </p:nvPicPr>
        <p:blipFill rotWithShape="1">
          <a:blip r:embed="rId20">
            <a:alphaModFix/>
          </a:blip>
          <a:srcRect b="10938" l="0" r="0" t="0"/>
          <a:stretch/>
        </p:blipFill>
        <p:spPr>
          <a:xfrm>
            <a:off x="3262322" y="2926359"/>
            <a:ext cx="2619356" cy="174964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8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-6313462" y="-3145280"/>
            <a:ext cx="289321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8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-7446192" y="-1393031"/>
            <a:ext cx="289321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8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6095991" y="2926358"/>
            <a:ext cx="2627036" cy="174964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08" name="Google Shape;208;p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428633" y="1649495"/>
            <a:ext cx="76628" cy="12260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09" name="Google Shape;209;p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428633" y="1884377"/>
            <a:ext cx="76628" cy="12260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10" name="Google Shape;210;p8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428633" y="2119258"/>
            <a:ext cx="76628" cy="12260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11" name="Google Shape;211;p8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428633" y="2354139"/>
            <a:ext cx="76628" cy="12260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12" name="Google Shape;212;p8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428633" y="1414614"/>
            <a:ext cx="76628" cy="122606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8"/>
          <p:cNvSpPr/>
          <p:nvPr/>
        </p:nvSpPr>
        <p:spPr>
          <a:xfrm>
            <a:off x="608161" y="1392508"/>
            <a:ext cx="13332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1771"/>
              </a:lnSpc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837"/>
              <a:buFont typeface="Poppins"/>
              <a:buNone/>
            </a:pPr>
            <a:r>
              <a:rPr b="1" lang="en-US" sz="937" u="sng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4"/>
              </a:rPr>
              <a:t>Gortsarar Aliq</a:t>
            </a:r>
            <a:endParaRPr sz="93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14" name="Google Shape;214;p8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428633" y="2589021"/>
            <a:ext cx="76628" cy="122606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8"/>
          <p:cNvSpPr/>
          <p:nvPr/>
        </p:nvSpPr>
        <p:spPr>
          <a:xfrm>
            <a:off x="608161" y="2566914"/>
            <a:ext cx="13332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1771"/>
              </a:lnSpc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837"/>
              <a:buFont typeface="Poppins"/>
              <a:buNone/>
            </a:pPr>
            <a:r>
              <a:rPr b="1" lang="en-US" sz="937" u="sng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5"/>
              </a:rPr>
              <a:t>Gortsarar Aliq</a:t>
            </a:r>
            <a:endParaRPr sz="93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 standalone="yes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<p:cSld><p:spTree><p:nvGrpSpPr><p:cNvPr id="219" name="Shape 219"/><p:cNvGrpSpPr/><p:nvPr/></p:nvGrpSpPr><p:grpSpPr><a:xfrm><a:off x="0" y="0"/><a:ext cx="0" cy="0"/><a:chOff x="0" y="0"/><a:chExt cx="0" cy="0"/></a:xfrm></p:grpSpPr><p:pic><p:nvPicPr><p:cNvPr descr="preencoded.png" id="220" name="Google Shape;220;g395e0c14fd2_1_9"/><p:cNvPicPr preferRelativeResize="0"/><p:nvPr/></p:nvPicPr><p:blipFill rotWithShape="1"><a:blip r:embed="rId3"><a:alphaModFix/></a:blip><a:srcRect b="0" l="0" r="0" t="0"/><a:stretch/></p:blipFill><p:spPr><a:xfrm><a:off x="0" y="2"/><a:ext cx="9144000" cy="5143500"/></a:xfrm><a:prstGeom prst="rect"><a:avLst/></a:prstGeom><a:noFill/><a:ln><a:noFill/></a:ln></p:spPr></p:pic><p:sp><p:nvSpPr><p:cNvPr id="221" name="Google Shape;221;g395e0c14fd2_1_9"/><p:cNvSpPr txBox="1"/><p:nvPr/></p:nvSpPr><p:spPr><a:xfrm><a:off x="427450" y="374225"/><a:ext cx="8583900" cy="4314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lnSpc><a:spcPct val="115000"/></a:lnSpc><a:spcBef><a:spcPts val="0"/></a:spcBef><a:spcAft><a:spcPts val="0"/></a:spcAft><a:buNone/></a:pPr><a:r><a:rPr b="1" lang="en-US" sz="1602"><a:solidFill><a:srgbClr val="0A192F"/></a:solidFill><a:latin typeface="Poppins"/><a:ea typeface="Poppins"/><a:cs typeface="Poppins"/><a:sym typeface="Poppins"/></a:rPr><a:t>NEEDED BUDGET: 15,000 USD</a:t></a:r><a:endParaRPr b="1" sz="1602"><a:solidFill><a:srgbClr val="0A192F"/></a:solidFill><a:latin typeface="Poppins"/><a:ea typeface="Poppins"/><a:cs typeface="Poppins"/><a:sym typeface="Poppins"/></a:endParaRPr></a:p></p:txBody></p:sp><p:sp><p:nvSpPr><p:cNvPr id="222" name="Google Shape;222;g395e0c14fd2_1_9"/><p:cNvSpPr txBox="1"/><p:nvPr/></p:nvSpPr><p:spPr><a:xfrm><a:off x="427450" y="1304018"/><a:ext cx="3000000" cy="4002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lnSpc><a:spcPct val="115000"/></a:lnSpc><a:spcBef><a:spcPts val="0"/></a:spcBef><a:spcAft><a:spcPts val="0"/></a:spcAft><a:buNone/></a:pPr><a:r><a:rPr b="1" lang="en-US"><a:solidFill><a:srgbClr val="6B21A8"/></a:solidFill><a:latin typeface="Poppins"/><a:ea typeface="Poppins"/><a:cs typeface="Poppins"/><a:sym typeface="Poppins"/></a:rPr><a:t>RESEARCHER TRAVEL</a:t></a:r><a:endParaRPr b="1"><a:solidFill><a:srgbClr val="6B21A8"/></a:solidFill><a:latin typeface="Poppins"/><a:ea typeface="Poppins"/><a:cs typeface="Poppins"/><a:sym typeface="Poppins"/></a:endParaRPr></a:p></p:txBody></p:sp><p:sp><p:nvSpPr><p:cNvPr id="223" name="Google Shape;223;g395e0c14fd2_1_9"/><p:cNvSpPr txBox="1"/><p:nvPr/></p:nvSpPr><p:spPr><a:xfrm><a:off x="4807875" y="1304018"/><a:ext cx="3000000" cy="4002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lnSpc><a:spcPct val="115000"/></a:lnSpc><a:spcBef><a:spcPts val="0"/></a:spcBef><a:spcAft><a:spcPts val="0"/></a:spcAft><a:buNone/></a:pPr><a:r><a:rPr b="1" lang="en-US"><a:solidFill><a:srgbClr val="6B21A8"/></a:solidFill><a:latin typeface="Poppins"/><a:ea typeface="Poppins"/><a:cs typeface="Poppins"/><a:sym typeface="Poppins"/></a:rPr><a:t>STUDENT FINANCIAL AID</a:t></a:r><a:endParaRPr b="1"><a:solidFill><a:srgbClr val="6B21A8"/></a:solidFill><a:latin typeface="Poppins"/><a:ea typeface="Poppins"/><a:cs typeface="Poppins"/><a:sym typeface="Poppins"/></a:endParaRPr></a:p></p:txBody></p:sp><p:sp><p:nvSpPr><p:cNvPr id="224" name="Google Shape;224;g395e0c14fd2_1_9"/><p:cNvSpPr txBox="1"/><p:nvPr/></p:nvSpPr><p:spPr><a:xfrm><a:off x="427450" y="1704218"/><a:ext cx="3597900" cy="12930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lnSpc><a:spcPct val="100000"/></a:lnSpc><a:spcBef><a:spcPts val="0"/></a:spcBef><a:spcAft><a:spcPts val="0"/></a:spcAft><a:buNone/></a:pPr><a:r><a:rPr lang="en-US" sz="1200"><a:solidFill><a:srgbClr val="334155"/></a:solidFill><a:latin typeface="Poppins"/><a:ea typeface="Poppins"/><a:cs typeface="Poppins"/><a:sym typeface="Poppins"/></a:rPr><a:t>Covers travel and accommodation for </a:t></a:r><a:endParaRPr sz="1200"><a:solidFill><a:srgbClr val="334155"/></a:solidFill><a:latin typeface="Poppins"/><a:ea typeface="Poppins"/><a:cs typeface="Poppins"/><a:sym typeface="Poppins"/></a:endParaRPr></a:p><a:p><a:pPr indent="0" lvl="0" marL="0" rtl="0" algn="l"><a:lnSpc><a:spcPct val="100000"/></a:lnSpc><a:spcBef><a:spcPts val="0"/></a:spcBef><a:spcAft><a:spcPts val="0"/></a:spcAft><a:buNone/></a:pPr><a:r><a:rPr b="1" lang="en-US" sz="1200"><a:solidFill><a:srgbClr val="334155"/></a:solidFill><a:latin typeface="Poppins"/><a:ea typeface="Poppins"/><a:cs typeface="Poppins"/><a:sym typeface="Poppins"/></a:rPr><a:t>5 world-class researchers from the US, Canada, and Europe </a:t></a:r><a:r><a:rPr lang="en-US" sz="1200"><a:solidFill><a:srgbClr val="334155"/></a:solidFill><a:latin typeface="Poppins"/><a:ea typeface="Poppins"/><a:cs typeface="Poppins"/><a:sym typeface="Poppins"/></a:rPr><a:t>to teach at the summer school.</a:t></a:r><a:endParaRPr sz="1200"><a:solidFill><a:srgbClr val="334155"/></a:solidFill><a:latin typeface="Poppins"/><a:ea typeface="Poppins"/><a:cs typeface="Poppins"/><a:sym typeface="Poppins"/></a:endParaRPr></a:p><a:p><a:pPr indent="0" lvl="0" marL="0" rtl="0" algn="l"><a:lnSpc><a:spcPct val="100000"/></a:lnSpc><a:spcBef><a:spcPts val="0"/></a:spcBef><a:spcAft><a:spcPts val="0"/></a:spcAft><a:buNone/></a:pPr><a:r><a:t></a:t></a:r><a:endParaRPr sz="1200"><a:solidFill><a:srgbClr val="334155"/></a:solidFill><a:latin typeface="Poppins"/><a:ea typeface="Poppins"/><a:cs typeface="Poppins"/><a:sym typeface="Poppins"/></a:endParaRPr></a:p><a:p><a:pPr indent="0" lvl="0" marL="0" rtl="0" algn="l"><a:lnSpc><a:spcPct val="100000"/></a:lnSpc><a:spcBef><a:spcPts val="0"/></a:spcBef><a:spcAft><a:spcPts val="0"/></a:spcAft><a:buNone/></a:pPr><a:r><a:rPr i="1" lang="en-US" sz="1200"><a:solidFill><a:srgbClr val="334155"/></a:solidFill><a:latin typeface="Poppins"/><a:ea typeface="Poppins"/><a:cs typeface="Poppins"/><a:sym typeface="Poppins"/></a:rPr><a:t>Covers ticket and accommodation</a:t></a:r><a:endParaRPr i="1" sz="1200"><a:solidFill><a:srgbClr val="334155"/></a:solidFill><a:latin typeface="Poppins"/><a:ea typeface="Poppins"/><a:cs typeface="Poppins"/><a:sym typeface="Poppins"/></a:endParaRPr></a:p></p:txBody></p:sp><p:sp><p:nvSpPr><p:cNvPr id="225" name="Google Shape;225;g395e0c14fd2_1_9"/><p:cNvSpPr txBox="1"/><p:nvPr/></p:nvSpPr><p:spPr><a:xfrm><a:off x="4807875" y="1704218"/><a:ext cx="3597900" cy="9234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lnSpc><a:spcPct val="100000"/></a:lnSpc><a:spcBef><a:spcPts val="0"/></a:spcBef><a:spcAft><a:spcPts val="0"/></a:spcAft><a:buNone/></a:pPr><a:r><a:rPr lang="en-US" sz="1200"><a:solidFill><a:srgbClr val="334155"/></a:solidFill><a:latin typeface="Poppins"/><a:ea typeface="Poppins"/><a:cs typeface="Poppins"/><a:sym typeface="Poppins"/></a:rPr><a:t>Providing </a:t></a:r><a:r><a:rPr b="1" lang="en-US" sz="1200"><a:solidFill><a:srgbClr val="334155"/></a:solidFill><a:latin typeface="Poppins"/><a:ea typeface="Poppins"/><a:cs typeface="Poppins"/><a:sym typeface="Poppins"/></a:rPr><a:t>up to 90% financial aid for Armenian University students</a:t></a:r><a:r><a:rPr lang="en-US" sz="1200"><a:solidFill><a:srgbClr val="334155"/></a:solidFill><a:latin typeface="Poppins"/><a:ea typeface="Poppins"/><a:cs typeface="Poppins"/><a:sym typeface="Poppins"/></a:rPr><a:t> to ensure merit-based access to high-quality AI education.</a:t></a:r><a:endParaRPr sz="1200"><a:solidFill><a:srgbClr val="334155"/></a:solidFill><a:latin typeface="Poppins"/><a:ea typeface="Poppins"/><a:cs typeface="Poppins"/><a:sym typeface="Poppins"/></a:endParaRPr></a:p></p:txBody></p:sp><p:sp><p:nvSpPr><p:cNvPr id="226" name="Google Shape;226;g395e0c14fd2_1_9"/><p:cNvSpPr txBox="1"/><p:nvPr/></p:nvSpPr><p:spPr><a:xfrm><a:off x="2494625" y="3016250"/><a:ext cx="3000000" cy="4002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ctr"><a:lnSpc><a:spcPct val="115000"/></a:lnSpc><a:spcBef><a:spcPts val="0"/></a:spcBef><a:spcAft><a:spcPts val="0"/></a:spcAft><a:buNone/></a:pPr><a:r><a:t></a:t></a:r><a:endParaRPr i="1"><a:solidFill><a:srgbClr val="0F172A"/></a:solidFill></a:endParaRPr></a:p></p:txBody></p:sp><p:sp><p:nvSpPr><p:cNvPr id="227" name="Google Shape;227;g395e0c14fd2_1_9"/><p:cNvSpPr/><p:nvPr/></p:nvSpPr><p:spPr><a:xfrm><a:off x="575950" y="4301675"/><a:ext cx="8286900" cy="628800"/></a:xfrm><a:prstGeom prst="rect"><a:avLst/></a:prstGeom><a:solidFill><a:srgbClr val="F8FAFC"/></a:solidFill><a:ln><a:noFill/></a:ln></p:spPr><p:txBody><a:bodyPr anchorCtr="0" anchor="ctr" bIns="91425" lIns="91425" spcFirstLastPara="1" rIns="91425" wrap="square" tIns="91425"><a:noAutofit/></a:bodyPr><a:lstStyle/><a:p><a:pPr indent="0" lvl="0" marL="0" rtl="0" algn="l"><a:spcBef><a:spcPts val="0"/></a:spcBef><a:spcAft><a:spcPts val="0"/></a:spcAft><a:buNone/></a:pPr><a:r><a:t></a:t></a:r><a:endParaRPr/></a:p></p:txBody></p:sp><p:sp><p:nvSpPr><p:cNvPr id="228" name="Google Shape;228;g395e0c14fd2_1_9"/><p:cNvSpPr/><p:nvPr/></p:nvSpPr><p:spPr><a:xfrm><a:off x="575950" y="4301675"/><a:ext cx="8286900" cy="28500"/></a:xfrm><a:prstGeom prst="rect"><a:avLst/></a:prstGeom><a:solidFill><a:srgbClr val="6B21A8"/></a:solidFill><a:ln><a:noFill/></a:ln></p:spPr><p:txBody><a:bodyPr anchorCtr="0" anchor="ctr" bIns="91425" lIns="91425" spcFirstLastPara="1" rIns="91425" wrap="square" tIns="91425"><a:noAutofit/></a:bodyPr><a:lstStyle/><a:p><a:pPr indent="0" lvl="0" marL="0" rtl="0" algn="l"><a:spcBef><a:spcPts val="0"/></a:spcBef><a:spcAft><a:spcPts val="0"/></a:spcAft><a:buNone/></a:pPr><a:r><a:t></a:t></a:r><a:endParaRPr/></a:p></p:txBody></p:sp><p:sp><p:nvSpPr><p:cNvPr id="229" name="Google Shape;229;g395e0c14fd2_1_9"/><p:cNvSpPr/><p:nvPr/></p:nvSpPr><p:spPr><a:xfrm><a:off x="861700" y="4491646"/><a:ext cx="7715400" cy="302400"/></a:xfrm><a:prstGeom prst="rect"><a:avLst/></a:prstGeom><a:noFill/><a:ln><a:noFill/></a:ln></p:spPr><p:txBody><a:bodyPr anchorCtr="0" anchor="t" bIns="0" lIns="0" spcFirstLastPara="1" rIns="0" wrap="square" tIns="0"><a:noAutofit/></a:bodyPr><a:lstStyle/><a:p><a:pPr indent="0" lvl="0" marL="0" marR="0" rtl="0" algn="ctr"><a:lnSpc><a:spcPct val="135593"/></a:lnSpc><a:spcBef><a:spcPts val="0"/></a:spcBef><a:spcAft><a:spcPts val="0"/></a:spcAft><a:buClr><a:srgbClr val="0A192F"/></a:buClr><a:buSzPts val="885"/><a:buFont typeface="Poppins"/><a:buNone/></a:pPr><a:r><a:rPr b="1" lang="en-US" sz="1085"><a:solidFill><a:srgbClr val="0A192F"/></a:solidFill><a:latin typeface="Poppins"/><a:ea typeface="Poppins"/><a:cs typeface="Poppins"/><a:sym typeface="Poppins"/></a:rPr><a:t>Last year budget: ~15K USD for speaker travel & accommodation in Yerevan; 11K USD for online accommodation, logistics, coffee breaks, networking. Financial aid: 35 students (90%); 42 industry professionals paid 100,000 AMD. 80 GPUs for school (~60K value); 1 GPU per student. Speakers: no honorarium, travel only. Venue: AI9 contribution.

Last year budget: ~15K USD for speaker travel & accommodation in Yerevan; 11K USD for online accommodation, logistics, coffee breaks, networking. Financial aid: 35 students (90%); 42 industry professionals paid 100,000 AMD. 80 GPUs for school (~60K value); 1 GPU per student. Speakers: no honorarium, travel only. Venue: AI9 contribution.

Your support directly enables global expertise to empower local talent in Armenia.</a:t></a:r><a:endParaRPr b="1" sz="1085"><a:solidFill><a:srgbClr val="0A192F"/></a:solidFill><a:latin typeface="Poppins"/><a:ea typeface="Poppins"/><a:cs typeface="Poppins"/><a:sym typeface="Poppins"/></a:endParaRPr></a:p></p:txBody></p:sp></p:spTree></p:cSld><p:clrMapOvr><a:masterClrMapping/></p:clrMapOvr>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35" name="Google Shape;235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9"/>
          <p:cNvSpPr/>
          <p:nvPr/>
        </p:nvSpPr>
        <p:spPr>
          <a:xfrm>
            <a:off x="428625" y="428625"/>
            <a:ext cx="82867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328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1602"/>
              <a:buFont typeface="Poppins"/>
              <a:buNone/>
            </a:pPr>
            <a:r>
              <a:rPr b="1" lang="en-US" sz="1602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PARTNER WITH US TO SHAPE THE FUTURE OF AI</a:t>
            </a:r>
            <a:endParaRPr sz="160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37" name="Google Shape;237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8625" y="1243806"/>
            <a:ext cx="285750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9"/>
          <p:cNvSpPr/>
          <p:nvPr/>
        </p:nvSpPr>
        <p:spPr>
          <a:xfrm>
            <a:off x="428625" y="1751013"/>
            <a:ext cx="1512600" cy="23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614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1090"/>
              <a:buFont typeface="Poppins"/>
              <a:buNone/>
            </a:pPr>
            <a:r>
              <a:rPr b="1" lang="en-US" sz="1190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Talent Pool Growth</a:t>
            </a:r>
            <a:endParaRPr sz="119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9"/>
          <p:cNvSpPr/>
          <p:nvPr/>
        </p:nvSpPr>
        <p:spPr>
          <a:xfrm>
            <a:off x="428625" y="2157413"/>
            <a:ext cx="25719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34"/>
              <a:buFont typeface="Poppins"/>
              <a:buNone/>
            </a:pPr>
            <a:r>
              <a:rPr lang="en-US" sz="10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Directly contribute to the growth of the Armenian AI talent pool by supporting </a:t>
            </a:r>
            <a:endParaRPr sz="10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34"/>
              <a:buFont typeface="Poppins"/>
              <a:buNone/>
            </a:pPr>
            <a:r>
              <a:rPr lang="en-US" sz="10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merit-based education for top students.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40" name="Google Shape;240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286125" y="1243806"/>
            <a:ext cx="321469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9"/>
          <p:cNvSpPr/>
          <p:nvPr/>
        </p:nvSpPr>
        <p:spPr>
          <a:xfrm>
            <a:off x="3286125" y="1751013"/>
            <a:ext cx="1223400" cy="23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614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1090"/>
              <a:buFont typeface="Poppins"/>
              <a:buNone/>
            </a:pPr>
            <a:r>
              <a:rPr b="1" lang="en-US" sz="1190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Brand Visibility</a:t>
            </a:r>
            <a:endParaRPr sz="119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9"/>
          <p:cNvSpPr/>
          <p:nvPr/>
        </p:nvSpPr>
        <p:spPr>
          <a:xfrm>
            <a:off x="3286125" y="2157413"/>
            <a:ext cx="25719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34"/>
              <a:buFont typeface="Poppins"/>
              <a:buNone/>
            </a:pPr>
            <a:r>
              <a:rPr lang="en-US" sz="10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Gain prominent visibility among 200+ high-caliber AI applicants, industry leaders, and global researchers.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43" name="Google Shape;243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43625" y="1243806"/>
            <a:ext cx="357188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9"/>
          <p:cNvSpPr/>
          <p:nvPr/>
        </p:nvSpPr>
        <p:spPr>
          <a:xfrm>
            <a:off x="6143625" y="1751013"/>
            <a:ext cx="1491300" cy="23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614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1090"/>
              <a:buFont typeface="Poppins"/>
              <a:buNone/>
            </a:pPr>
            <a:r>
              <a:rPr b="1" lang="en-US" sz="1190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Global Networking</a:t>
            </a:r>
            <a:endParaRPr sz="119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9"/>
          <p:cNvSpPr/>
          <p:nvPr/>
        </p:nvSpPr>
        <p:spPr>
          <a:xfrm>
            <a:off x="6143625" y="2157413"/>
            <a:ext cx="25719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34"/>
              <a:buFont typeface="Poppins"/>
              <a:buNone/>
            </a:pPr>
            <a:r>
              <a:rPr lang="en-US" sz="10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Connect with world-class researchers from top institutions and local innovators in the Armenian tech ecosystem.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9"/>
          <p:cNvSpPr/>
          <p:nvPr/>
        </p:nvSpPr>
        <p:spPr>
          <a:xfrm>
            <a:off x="0" y="3607594"/>
            <a:ext cx="9144000" cy="153590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9"/>
          <p:cNvSpPr/>
          <p:nvPr/>
        </p:nvSpPr>
        <p:spPr>
          <a:xfrm>
            <a:off x="0" y="3607594"/>
            <a:ext cx="9144000" cy="14288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9"/>
          <p:cNvSpPr/>
          <p:nvPr/>
        </p:nvSpPr>
        <p:spPr>
          <a:xfrm>
            <a:off x="428625" y="3907631"/>
            <a:ext cx="2953941" cy="151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1771"/>
              </a:lnSpc>
              <a:spcBef>
                <a:spcPts val="0"/>
              </a:spcBef>
              <a:spcAft>
                <a:spcPts val="0"/>
              </a:spcAft>
              <a:buClr>
                <a:srgbClr val="6B21A8"/>
              </a:buClr>
              <a:buSzPts val="683"/>
              <a:buFont typeface="Poppins"/>
              <a:buNone/>
            </a:pPr>
            <a:r>
              <a:rPr b="1" lang="en-US" sz="983">
                <a:solidFill>
                  <a:srgbClr val="6B21A8"/>
                </a:solidFill>
                <a:latin typeface="Poppins"/>
                <a:ea typeface="Poppins"/>
                <a:cs typeface="Poppins"/>
                <a:sym typeface="Poppins"/>
              </a:rPr>
              <a:t>GET INVOLVED</a:t>
            </a:r>
            <a:endParaRPr sz="98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9"/>
          <p:cNvSpPr/>
          <p:nvPr/>
        </p:nvSpPr>
        <p:spPr>
          <a:xfrm>
            <a:off x="428625" y="4130873"/>
            <a:ext cx="2953941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328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1602"/>
              <a:buFont typeface="Poppins"/>
              <a:buNone/>
            </a:pPr>
            <a:r>
              <a:rPr b="1" lang="en-US" sz="1602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armeniallm@gmail.com</a:t>
            </a:r>
            <a:endParaRPr sz="160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9"/>
          <p:cNvSpPr/>
          <p:nvPr/>
        </p:nvSpPr>
        <p:spPr>
          <a:xfrm>
            <a:off x="428625" y="4453322"/>
            <a:ext cx="2953800" cy="1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34"/>
              <a:buFont typeface="Poppins"/>
              <a:buNone/>
            </a:pPr>
            <a:r>
              <a:rPr lang="en-US" sz="1034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Join us for the 2026 Edition in Yerevan.</a:t>
            </a:r>
            <a:endParaRPr sz="10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9"/>
          <p:cNvSpPr/>
          <p:nvPr/>
        </p:nvSpPr>
        <p:spPr>
          <a:xfrm>
            <a:off x="6802636" y="3907631"/>
            <a:ext cx="1912739" cy="151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31771"/>
              </a:lnSpc>
              <a:spcBef>
                <a:spcPts val="0"/>
              </a:spcBef>
              <a:spcAft>
                <a:spcPts val="0"/>
              </a:spcAft>
              <a:buClr>
                <a:srgbClr val="6B21A8"/>
              </a:buClr>
              <a:buSzPts val="683"/>
              <a:buFont typeface="Poppins"/>
              <a:buNone/>
            </a:pPr>
            <a:r>
              <a:rPr b="1" lang="en-US" sz="983">
                <a:solidFill>
                  <a:srgbClr val="6B21A8"/>
                </a:solidFill>
                <a:latin typeface="Poppins"/>
                <a:ea typeface="Poppins"/>
                <a:cs typeface="Poppins"/>
                <a:sym typeface="Poppins"/>
              </a:rPr>
              <a:t>VENUE SPONSOR</a:t>
            </a:r>
            <a:endParaRPr sz="98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9"/>
          <p:cNvSpPr/>
          <p:nvPr/>
        </p:nvSpPr>
        <p:spPr>
          <a:xfrm>
            <a:off x="6802636" y="4130873"/>
            <a:ext cx="1912739" cy="2589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34115"/>
              </a:lnSpc>
              <a:spcBef>
                <a:spcPts val="0"/>
              </a:spcBef>
              <a:spcAft>
                <a:spcPts val="0"/>
              </a:spcAft>
              <a:buClr>
                <a:srgbClr val="0A192F"/>
              </a:buClr>
              <a:buSzPts val="1193"/>
              <a:buFont typeface="Poppins"/>
              <a:buNone/>
            </a:pPr>
            <a:r>
              <a:rPr b="1" lang="en-US" sz="1293">
                <a:solidFill>
                  <a:srgbClr val="0A192F"/>
                </a:solidFill>
                <a:latin typeface="Poppins"/>
                <a:ea typeface="Poppins"/>
                <a:cs typeface="Poppins"/>
                <a:sym typeface="Poppins"/>
              </a:rPr>
              <a:t>AI9 STARTUP CAMPUS</a:t>
            </a:r>
            <a:endParaRPr sz="129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9"/>
          <p:cNvSpPr/>
          <p:nvPr/>
        </p:nvSpPr>
        <p:spPr>
          <a:xfrm>
            <a:off x="6413500" y="4453322"/>
            <a:ext cx="2301900" cy="23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34"/>
              <a:buFont typeface="Poppins"/>
              <a:buNone/>
            </a:pPr>
            <a:r>
              <a:rPr lang="en-US" sz="1034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9 Isahakyan St, Yerevan, Armenia</a:t>
            </a:r>
            <a:endParaRPr sz="10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2026-03-07T17:00:21Z</dcterms:created>
  <dc:creator>PptxGenJS</dc:creator>
</cp:coreProperties>
</file>