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Poppi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kXYaZ7iDlNN5K36XsBZ2G6TFhj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2" name="ArmeniaLLM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09T15:33:37.602">
    <p:pos x="0" y="0"/>
    <p:text>add numbers from last years
discounts, քանի ուսանող ա եկել ինչքան զեղչ ենք տվել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1gc-Lq8"/>
      </p:ext>
    </p:extLst>
  </p:cm>
  <p:cm authorId="0" idx="2" dt="2026-03-09T15:13:31.501">
    <p:pos x="0" y="0"/>
    <p:text>add nebius GPU grant ~ 75K usd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1gc-LrE"/>
      </p:ext>
    </p:extLst>
  </p:cm>
  <p:cm authorId="0" idx="3" dt="2026-03-09T15:18:51.822">
    <p:pos x="0" y="0"/>
    <p:text>speakers don't get honorarium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1goXlcw"/>
      </p:ext>
    </p:extLst>
  </p:cm>
  <p:cm authorId="0" idx="4" dt="2026-03-09T15:32:54.314">
    <p:pos x="0" y="0"/>
    <p:text>budget high level breakdown
venue
gpu
speaker
financial aid 
logistics for organization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1gsjEcw"/>
      </p:ext>
    </p:extLst>
  </p:cm>
  <p:cm authorId="0" idx="5" dt="2026-03-09T15:33:37.602">
    <p:pos x="0" y="0"/>
    <p:text>highlight the 90% discount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1gsjEc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3-09T15:32:10.053">
    <p:pos x="0" y="0"/>
    <p:text>list countries of participants+
pie chart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1gc-LrA"/>
      </p:ext>
    </p:extLst>
  </p:cm>
  <p:cm authorId="0" idx="7" dt="2026-03-09T15:26:32.839">
    <p:pos x="0" y="0"/>
    <p:text>general intro
+ impact</p:text>
    <p:extLst>
      <p:ext uri="{C676402C-5697-4E1C-873F-D02D1690AC5C}">
        <p15:threadingInfo timeZoneBias="0">
          <p15:parentCm authorId="0" idx="6"/>
        </p15:threadingInfo>
      </p:ext>
      <p:ext uri="http://customooxmlschemas.google.com/">
        <go:slidesCustomData xmlns:go="http://customooxmlschemas.google.com/" commentPostId="AAAB1goXlc0"/>
      </p:ext>
    </p:extLst>
  </p:cm>
  <p:cm authorId="0" idx="8" dt="2026-03-09T15:32:10.053">
    <p:pos x="0" y="0"/>
    <p:text>statistics on industry and student, եթե ուսանող է նշել այդպես, ինդուստրիան միայն որ ուսանողներով պահել</p:text>
    <p:extLst>
      <p:ext uri="{C676402C-5697-4E1C-873F-D02D1690AC5C}">
        <p15:threadingInfo timeZoneBias="0">
          <p15:parentCm authorId="0" idx="6"/>
        </p15:threadingInfo>
      </p:ext>
      <p:ext uri="http://customooxmlschemas.google.com/">
        <go:slidesCustomData xmlns:go="http://customooxmlschemas.google.com/" commentPostId="AAAB1gsjEcs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3-09T15:11:20.918">
    <p:pos x="61" y="27"/>
    <p:text>put logos of companies next to the names
small size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1gc-Lq4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6-03-09T15:29:19.536">
    <p:pos x="0" y="0"/>
    <p:text>Add company logos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1goXlc8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6-03-09T15:15:06.446">
    <p:pos x="6000" y="0"/>
    <p:text>one slide only pictures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1gc-LrI"/>
      </p:ext>
    </p:extLst>
  </p:cm>
  <p:cm authorId="0" idx="12" dt="2026-03-09T15:15:06.446">
    <p:pos x="6000" y="0"/>
    <p:text>speakers, talks</p:text>
    <p:extLst>
      <p:ext uri="{C676402C-5697-4E1C-873F-D02D1690AC5C}">
        <p15:threadingInfo timeZoneBias="0">
          <p15:parentCm authorId="0" idx="11"/>
        </p15:threadingInfo>
      </p:ext>
      <p:ext uri="http://customooxmlschemas.google.com/">
        <go:slidesCustomData xmlns:go="http://customooxmlschemas.google.com/" commentPostId="AAAB1gc-LrM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5e0c14fd2_1_9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5e0c14fd2_1_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13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16.jp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16.jp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Relationship Id="rId4" Type="http://schemas.openxmlformats.org/officeDocument/2006/relationships/image" Target="../media/image11.jp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4.xml"/><Relationship Id="rId4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8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9" Type="http://schemas.openxmlformats.org/officeDocument/2006/relationships/image" Target="../media/image19.jpg"/><Relationship Id="rId5" Type="http://schemas.openxmlformats.org/officeDocument/2006/relationships/image" Target="../media/image12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4.jpg"/><Relationship Id="rId22" Type="http://schemas.openxmlformats.org/officeDocument/2006/relationships/image" Target="../media/image32.jpg"/><Relationship Id="rId21" Type="http://schemas.openxmlformats.org/officeDocument/2006/relationships/image" Target="../media/image35.jpg"/><Relationship Id="rId24" Type="http://schemas.openxmlformats.org/officeDocument/2006/relationships/hyperlink" Target="https://www.youtube.com/watch?v=HxLQ9Y-947U" TargetMode="External"/><Relationship Id="rId23" Type="http://schemas.openxmlformats.org/officeDocument/2006/relationships/image" Target="../media/image3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5.xml"/><Relationship Id="rId4" Type="http://schemas.openxmlformats.org/officeDocument/2006/relationships/image" Target="../media/image16.jpg"/><Relationship Id="rId9" Type="http://schemas.openxmlformats.org/officeDocument/2006/relationships/hyperlink" Target="http://dev.itel.am/am/news/15435" TargetMode="External"/><Relationship Id="rId25" Type="http://schemas.openxmlformats.org/officeDocument/2006/relationships/hyperlink" Target="https://www.youtube.com/watch?v=jXqUkthY_sI" TargetMode="External"/><Relationship Id="rId5" Type="http://schemas.openxmlformats.org/officeDocument/2006/relationships/image" Target="../media/image25.png"/><Relationship Id="rId6" Type="http://schemas.openxmlformats.org/officeDocument/2006/relationships/hyperlink" Target="https://tech.news.am/arm/news/3794/hayastanum-meknarkel-e-mets-lezvakan-modelneri-arajin-amarayin-dprocy.html" TargetMode="External"/><Relationship Id="rId7" Type="http://schemas.openxmlformats.org/officeDocument/2006/relationships/hyperlink" Target="https://www.youtube.com/watch?v=wy8eMSnoA2s" TargetMode="External"/><Relationship Id="rId8" Type="http://schemas.openxmlformats.org/officeDocument/2006/relationships/hyperlink" Target="https://evnreport.com/podcasts/evn-disrupt/perouz-taslakian-erik-arakelyan-llm-summer-school/" TargetMode="External"/><Relationship Id="rId11" Type="http://schemas.openxmlformats.org/officeDocument/2006/relationships/image" Target="../media/image31.png"/><Relationship Id="rId10" Type="http://schemas.openxmlformats.org/officeDocument/2006/relationships/image" Target="../media/image24.png"/><Relationship Id="rId13" Type="http://schemas.openxmlformats.org/officeDocument/2006/relationships/image" Target="../media/image22.png"/><Relationship Id="rId12" Type="http://schemas.openxmlformats.org/officeDocument/2006/relationships/hyperlink" Target="https://youtube.com/playlist?list=PL6uSmoBKOSuuZsTPc4EHx7HBt3zCvUnY4&amp;si=70AYum5nlfyWwqig" TargetMode="External"/><Relationship Id="rId15" Type="http://schemas.openxmlformats.org/officeDocument/2006/relationships/image" Target="../media/image20.png"/><Relationship Id="rId14" Type="http://schemas.openxmlformats.org/officeDocument/2006/relationships/hyperlink" Target="https://www.youtube.com/watch?v=c_jkhJglwhk" TargetMode="External"/><Relationship Id="rId17" Type="http://schemas.openxmlformats.org/officeDocument/2006/relationships/image" Target="../media/image37.png"/><Relationship Id="rId16" Type="http://schemas.openxmlformats.org/officeDocument/2006/relationships/hyperlink" Target="https://www.linkedin.com/feed/update/urn:li:activity:7358189773196304384" TargetMode="External"/><Relationship Id="rId19" Type="http://schemas.openxmlformats.org/officeDocument/2006/relationships/image" Target="../media/image36.jpg"/><Relationship Id="rId18" Type="http://schemas.openxmlformats.org/officeDocument/2006/relationships/hyperlink" Target="https://www.instagram.com/p/DMNREbbMeA1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4098504" y="1582173"/>
            <a:ext cx="946990" cy="198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193"/>
              <a:buFont typeface="Poppins"/>
              <a:buNone/>
            </a:pPr>
            <a:r>
              <a:rPr b="1" i="0" lang="en-US" sz="1193" u="none" cap="none" strike="noStrike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3RD EDITION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000125" y="1912572"/>
            <a:ext cx="7143750" cy="1020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3293"/>
              <a:buFont typeface="Poppins"/>
              <a:buNone/>
            </a:pPr>
            <a:r>
              <a:rPr b="1" i="0" lang="en-US" sz="3293" u="none" cap="none" strike="noStrike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Armenia Large Language Models Summer School 2026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851159" y="3061264"/>
            <a:ext cx="5441681" cy="275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4"/>
              <a:buFont typeface="Poppins"/>
              <a:buNone/>
            </a:pPr>
            <a:r>
              <a:rPr b="0" i="0" lang="en-US" sz="1704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AUGUST 3–7, 2026 | AI9 STARTUP CAMPUS, YEREVAN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428875" y="3689914"/>
            <a:ext cx="4286250" cy="3714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428875" y="3689914"/>
            <a:ext cx="4286250" cy="1428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904075" y="3839933"/>
            <a:ext cx="3335849" cy="173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050"/>
              <a:buFont typeface="Poppins"/>
              <a:buNone/>
            </a:pPr>
            <a:r>
              <a:rPr b="0" i="1" lang="en-US" sz="1050" u="none" cap="none" strike="noStrike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Bringing the forefront of LLM research to Armenia.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6867" y="500062"/>
            <a:ext cx="990264" cy="990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" name="Google Shape;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9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602"/>
              <a:buFont typeface="Poppins"/>
              <a:buNone/>
            </a:pPr>
            <a:r>
              <a:rPr b="1" lang="en-US" sz="1602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2026 CURRICULUM: BRIDGING THE GAP IN LLM RESEARCH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40106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707231" y="1357313"/>
            <a:ext cx="1716286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193"/>
              <a:buFont typeface="Poppins"/>
              <a:buNone/>
            </a:pPr>
            <a:r>
              <a:rPr b="1" lang="en-US" sz="1193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OBJECTIVE &amp; SCOPE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28625" y="1736472"/>
            <a:ext cx="39291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The summer school will offer a series of workshops, lectures, and hands-on sessions, aiming to bridge the knowledge gap among members of academia and industry in the fast-developing research area of foundational Large Language Models (LLMs).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28625" y="2633474"/>
            <a:ext cx="39291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The curriculum will cover a range of both core and specialized topics in LLMs, ensuring participants gain both theoretical depth and practical expertise.</a:t>
            </a:r>
            <a:endParaRPr sz="1034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t/>
            </a:r>
            <a:endParaRPr sz="1034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b="1"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Each offline participant gets  1 GPU for </a:t>
            </a:r>
            <a:r>
              <a:rPr b="1"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practical</a:t>
            </a:r>
            <a:r>
              <a:rPr b="1"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sessions.</a:t>
            </a:r>
            <a:endParaRPr b="1" sz="1034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140106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5064919" y="1357313"/>
            <a:ext cx="1543050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193"/>
              <a:buFont typeface="Poppins"/>
              <a:buNone/>
            </a:pPr>
            <a:r>
              <a:rPr b="1" lang="en-US" sz="1193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TARGETED TOPICS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1723618"/>
            <a:ext cx="128588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5022056" y="1723618"/>
            <a:ext cx="36933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784"/>
              <a:buFont typeface="Poppins"/>
              <a:buNone/>
            </a:pPr>
            <a:r>
              <a:rPr b="1" lang="en-US" sz="9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Pre-training:</a:t>
            </a:r>
            <a:r>
              <a:rPr lang="en-US" sz="9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Foundations of LLMs + Vision-Language Models (VLMs).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86313" y="2135717"/>
            <a:ext cx="128588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5022056" y="2135717"/>
            <a:ext cx="36933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784"/>
              <a:buFont typeface="Poppins"/>
              <a:buNone/>
            </a:pPr>
            <a:r>
              <a:rPr b="1" lang="en-US" sz="984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SFT &amp; RL:</a:t>
            </a: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2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Supervised Fine-Tuning and Reinforcement Learning.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86313" y="2512285"/>
            <a:ext cx="160734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5054203" y="2512285"/>
            <a:ext cx="36612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784"/>
              <a:buFont typeface="Poppins"/>
              <a:buNone/>
            </a:pPr>
            <a:r>
              <a:rPr b="1" lang="en-US" sz="984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Agents &amp; Tools:</a:t>
            </a: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2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Test-time compute, autonomous agents, and tool usage.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86313" y="3016184"/>
            <a:ext cx="128588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5022050" y="3016178"/>
            <a:ext cx="369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784"/>
              <a:buFont typeface="Poppins"/>
              <a:buNone/>
            </a:pPr>
            <a:r>
              <a:rPr b="1" lang="en-US" sz="984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Advanced Systems:</a:t>
            </a: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2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Context management and VLA / Robotics.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28625" y="4086225"/>
            <a:ext cx="8286750" cy="6286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28625" y="4086225"/>
            <a:ext cx="8286750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14375" y="4276196"/>
            <a:ext cx="77154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985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These topics are essential additions to the university curriculum, providing the flexibility needed to reflect the fast-paced evolution of global AI research.</a:t>
            </a:r>
            <a:endParaRPr b="1" sz="9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602"/>
              <a:buFont typeface="Poppins"/>
              <a:buNone/>
            </a:pPr>
            <a:r>
              <a:rPr b="1" lang="en-US" sz="1602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BRIDGING THE GAP: GLOBAL RESEARCH &amp; LOCAL INNOVATION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386780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735806" y="1357313"/>
            <a:ext cx="796528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193"/>
              <a:buFont typeface="Poppins"/>
              <a:buNone/>
            </a:pPr>
            <a:r>
              <a:rPr b="1" lang="en-US" sz="1193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THE NEED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28625" y="1830586"/>
            <a:ext cx="39290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987"/>
              <a:buFont typeface="Poppins"/>
              <a:buNone/>
            </a:pPr>
            <a:r>
              <a:rPr b="1" lang="en-US" sz="1187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Targeting 80 In-Person Participants</a:t>
            </a:r>
            <a:endParaRPr sz="11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28625" y="2116336"/>
            <a:ext cx="3929063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 balanced cohort of 40 industry professionals and 40 students to foster cross-sector collaboration.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28625" y="2696375"/>
            <a:ext cx="39290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987"/>
              <a:buFont typeface="Poppins"/>
              <a:buNone/>
            </a:pPr>
            <a:r>
              <a:rPr b="1" lang="en-US" sz="1187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Removing Financial Barriers</a:t>
            </a:r>
            <a:endParaRPr sz="11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28625" y="2982125"/>
            <a:ext cx="3929063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High-quality AI training costs are often prohibitive for local students. We ensure merit-based access.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1386780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5118497" y="1357313"/>
            <a:ext cx="1398389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193"/>
              <a:buFont typeface="Poppins"/>
              <a:buNone/>
            </a:pPr>
            <a:r>
              <a:rPr b="1" lang="en-US" sz="1193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FUNDING GOALS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86313" y="1830586"/>
            <a:ext cx="39290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987"/>
              <a:buFont typeface="Poppins"/>
              <a:buNone/>
            </a:pPr>
            <a:r>
              <a:rPr b="1" lang="en-US" sz="1187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90% Student Fee Waivers</a:t>
            </a:r>
            <a:endParaRPr sz="11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786313" y="2116336"/>
            <a:ext cx="3929063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Directly subsidizing the participation of Armenian university students to build the local talent pool.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86313" y="2696375"/>
            <a:ext cx="392906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987"/>
              <a:buFont typeface="Poppins"/>
              <a:buNone/>
            </a:pPr>
            <a:r>
              <a:rPr b="1" lang="en-US" sz="1187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Researcher Travel Costs</a:t>
            </a:r>
            <a:endParaRPr sz="11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786325" y="2982125"/>
            <a:ext cx="392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Covering travel for global experts to come to Armenia for teaching.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28625" y="4043363"/>
            <a:ext cx="8286750" cy="671513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28625" y="4043363"/>
            <a:ext cx="8286750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14300" y="4207900"/>
            <a:ext cx="771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2">
                <a:solidFill>
                  <a:srgbClr val="45818E"/>
                </a:solidFill>
                <a:latin typeface="Poppins"/>
                <a:ea typeface="Poppins"/>
                <a:cs typeface="Poppins"/>
                <a:sym typeface="Poppins"/>
              </a:rPr>
              <a:t>NEEDED BUDGET: 15,000 USD</a:t>
            </a:r>
            <a:endParaRPr b="1" sz="1287">
              <a:solidFill>
                <a:srgbClr val="45818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2740675" y="3562175"/>
            <a:ext cx="32352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2">
              <a:solidFill>
                <a:srgbClr val="0A19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602"/>
              <a:buFont typeface="Poppins"/>
              <a:buNone/>
            </a:pPr>
            <a:r>
              <a:rPr b="1" lang="en-US" sz="1602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PROVEN IMPACT: GROWING DEMAND FOR AI EDUCATION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28625" y="1523795"/>
            <a:ext cx="32742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3293"/>
              <a:buFont typeface="Poppins"/>
              <a:buNone/>
            </a:pPr>
            <a:r>
              <a:rPr b="1" lang="en-US" sz="3293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200+</a:t>
            </a:r>
            <a:endParaRPr sz="32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28625" y="2016714"/>
            <a:ext cx="327420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987"/>
              <a:buFont typeface="Poppins"/>
              <a:buNone/>
            </a:pPr>
            <a:r>
              <a:rPr b="1" lang="en-US" sz="987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APPLICATIONS IN 2025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28625" y="2516777"/>
            <a:ext cx="32742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3293"/>
              <a:buFont typeface="Poppins"/>
              <a:buNone/>
            </a:pPr>
            <a:r>
              <a:rPr b="1" lang="en-US" sz="3293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115+</a:t>
            </a:r>
            <a:endParaRPr sz="32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28625" y="3009695"/>
            <a:ext cx="327420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987"/>
              <a:buFont typeface="Poppins"/>
              <a:buNone/>
            </a:pPr>
            <a:r>
              <a:rPr b="1" lang="en-US" sz="987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TOTAL PARTICIPANTS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28625" y="3652633"/>
            <a:ext cx="3274209" cy="731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Our track record demonstrates a significant and growing interest in high-level AI education within Armenia and the region. The summer school has become a competitive hub for talent training.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131459" y="1357313"/>
            <a:ext cx="4583888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985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2025 Participation Breakdown</a:t>
            </a:r>
            <a:endParaRPr sz="9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131459" y="1693069"/>
            <a:ext cx="4583888" cy="285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5772" y="1918720"/>
            <a:ext cx="4154091" cy="2643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838" y="44311"/>
            <a:ext cx="8853485" cy="508785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428625" y="428625"/>
            <a:ext cx="8286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602"/>
              <a:buFont typeface="Poppins"/>
              <a:buNone/>
            </a:pPr>
            <a:r>
              <a:rPr b="1" lang="en-US" sz="1602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WORLD-CLASS AI EXPERTISE: FEATURED SPEAKERS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227804"/>
            <a:ext cx="178594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714375" y="1227362"/>
            <a:ext cx="12324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193"/>
              <a:buFont typeface="Poppins"/>
              <a:buNone/>
            </a:pPr>
            <a:r>
              <a:rPr b="1" lang="en-US" sz="1193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2024 EDITION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28625" y="1706260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Armen Aghajanyan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28625" y="1899157"/>
            <a:ext cx="16563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Perceptron AI, ex-Meta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28625" y="2236683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Erik Arakelyan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28625" y="2429577"/>
            <a:ext cx="10212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UCPH, NVIDIA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28625" y="2733686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Hrayr Harutyunyan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28625" y="2926567"/>
            <a:ext cx="3929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Google Research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28625" y="3238709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Eugene Bagdasaryan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28625" y="3431591"/>
            <a:ext cx="3929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Google / UMass Amherst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28625" y="3756433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Karen Hambardzumyan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28625" y="3949314"/>
            <a:ext cx="3929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UCL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28625" y="4261456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Jonathan May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28625" y="4454337"/>
            <a:ext cx="3929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USC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28625" y="4695627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Jiao Sun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28625" y="4888508"/>
            <a:ext cx="3929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USC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1227804"/>
            <a:ext cx="2000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5093494" y="1227362"/>
            <a:ext cx="1227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193"/>
              <a:buFont typeface="Poppins"/>
              <a:buNone/>
            </a:pPr>
            <a:r>
              <a:rPr b="1" lang="en-US" sz="1193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2025 EDITION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786313" y="1639418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Armen Aghajanyan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786331" y="1832311"/>
            <a:ext cx="16059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Perceptron AI, ex-Meta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786313" y="2219972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Alexandre Drouin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786313" y="2412854"/>
            <a:ext cx="3929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Université Laval (MILA) / ServiceNow Research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786313" y="2718169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Gauthier Gidel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786313" y="2911050"/>
            <a:ext cx="3929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Université de Montréal (MILA)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786313" y="3223192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Michael Noukhovitch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786313" y="3416074"/>
            <a:ext cx="39291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Université de Montréal (MILA)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786313" y="3729576"/>
            <a:ext cx="39291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0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Nouha Dziri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786330" y="3922437"/>
            <a:ext cx="1605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27"/>
              <a:buFont typeface="Poppins"/>
              <a:buNone/>
            </a:pPr>
            <a:r>
              <a:rPr lang="en-US" sz="9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Allen Institute for AI (AI2)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602"/>
              <a:buFont typeface="Poppins"/>
              <a:buNone/>
            </a:pPr>
            <a:r>
              <a:rPr b="1" lang="en-US" sz="1602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THE ORGANIZING TEAM: LEADING THE VISION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0" y="1214438"/>
            <a:ext cx="6429375" cy="390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510275" wrap="square" tIns="85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42"/>
              <a:buFont typeface="Poppins"/>
              <a:buNone/>
            </a:pPr>
            <a:r>
              <a:rPr lang="en-US" sz="1042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Our organizing committee brings together leading researchers from top global institutions to drive AI innovation in Armenia.</a:t>
            </a:r>
            <a:endParaRPr sz="10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28625" y="1957388"/>
            <a:ext cx="2619356" cy="1285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28625" y="1957388"/>
            <a:ext cx="2619356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42938" y="2469059"/>
            <a:ext cx="2190731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090"/>
              <a:buFont typeface="Poppins"/>
              <a:buNone/>
            </a:pPr>
            <a:r>
              <a:rPr b="1" lang="en-US" sz="129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Armen Aghajanyan</a:t>
            </a:r>
            <a:endParaRPr sz="12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42938" y="2776240"/>
            <a:ext cx="2190731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PERCEPTRON AI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262294" y="1957388"/>
            <a:ext cx="2619384" cy="1285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262294" y="1957388"/>
            <a:ext cx="2619384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3476606" y="2469059"/>
            <a:ext cx="219075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090"/>
              <a:buFont typeface="Poppins"/>
              <a:buNone/>
            </a:pPr>
            <a:r>
              <a:rPr b="1" lang="en-US" sz="129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Erik Arakelyan</a:t>
            </a:r>
            <a:endParaRPr sz="12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476606" y="2776240"/>
            <a:ext cx="2190759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NVIDIA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095991" y="1957388"/>
            <a:ext cx="2619356" cy="1285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6095991" y="1957388"/>
            <a:ext cx="2619356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6310303" y="2469059"/>
            <a:ext cx="2190731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090"/>
              <a:buFont typeface="Poppins"/>
              <a:buNone/>
            </a:pPr>
            <a:r>
              <a:rPr b="1" lang="en-US" sz="129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Aram Galstyan</a:t>
            </a:r>
            <a:endParaRPr sz="12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310303" y="2776240"/>
            <a:ext cx="2190731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USC / AMAZON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28625" y="3457575"/>
            <a:ext cx="2619356" cy="1285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28625" y="3457575"/>
            <a:ext cx="2619356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42938" y="3969246"/>
            <a:ext cx="2190731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090"/>
              <a:buFont typeface="Poppins"/>
              <a:buNone/>
            </a:pPr>
            <a:r>
              <a:rPr b="1" lang="en-US" sz="129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Hrant Khachatrian</a:t>
            </a:r>
            <a:endParaRPr sz="12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42938" y="4276427"/>
            <a:ext cx="2190731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YEREVANN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262294" y="3457575"/>
            <a:ext cx="2619384" cy="1285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3262294" y="3457575"/>
            <a:ext cx="2619384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476606" y="3969246"/>
            <a:ext cx="219075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090"/>
              <a:buFont typeface="Poppins"/>
              <a:buNone/>
            </a:pPr>
            <a:r>
              <a:rPr b="1" lang="en-US" sz="129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Perouz Taslakian</a:t>
            </a:r>
            <a:endParaRPr sz="12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476606" y="4276427"/>
            <a:ext cx="2190759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SERVICENOW RESEARCH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77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2714625" y="1643063"/>
            <a:ext cx="1571625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28625" y="428625"/>
            <a:ext cx="66585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602"/>
              <a:buFont typeface="Poppins"/>
              <a:buNone/>
            </a:pPr>
            <a:r>
              <a:rPr b="1" lang="en-US" sz="1602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OUR PARTNERS AND SUPPORTERS OF PREVIOUS EDITIONS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714625" y="1643063"/>
            <a:ext cx="1571625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0" y="4272855"/>
            <a:ext cx="9144000" cy="884039"/>
          </a:xfrm>
          <a:prstGeom prst="rect">
            <a:avLst/>
          </a:prstGeom>
          <a:noFill/>
          <a:ln>
            <a:noFill/>
          </a:ln>
        </p:spPr>
        <p:txBody>
          <a:bodyPr anchorCtr="0" anchor="t" bIns="510275" lIns="510275" spcFirstLastPara="1" rIns="510275" wrap="square" tIns="340225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1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We are grateful for the continued support of our partners in building Armenia's AI ecosystem.</a:t>
            </a:r>
            <a:endParaRPr sz="1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71500" y="1640384"/>
            <a:ext cx="1571625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571500" y="1640384"/>
            <a:ext cx="1571625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857750" y="1640384"/>
            <a:ext cx="1571625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857750" y="1640384"/>
            <a:ext cx="1571625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7000875" y="1640384"/>
            <a:ext cx="1571625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000875" y="1640384"/>
            <a:ext cx="1571625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2714625" y="3007965"/>
            <a:ext cx="1571625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2714625" y="3007965"/>
            <a:ext cx="1571625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71500" y="3005286"/>
            <a:ext cx="1571625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71500" y="3005286"/>
            <a:ext cx="1571625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857750" y="3005286"/>
            <a:ext cx="1571625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857750" y="3005286"/>
            <a:ext cx="1571625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7000875" y="3005286"/>
            <a:ext cx="1571625" cy="8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7000875" y="3005286"/>
            <a:ext cx="1571625" cy="28575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511" y="3307333"/>
            <a:ext cx="1206387" cy="281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41942" y="3239247"/>
            <a:ext cx="889489" cy="417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4892" y="3339172"/>
            <a:ext cx="1291090" cy="19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5683" y="1613891"/>
            <a:ext cx="878384" cy="878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47840" y="1893060"/>
            <a:ext cx="1391445" cy="38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35621" y="1717944"/>
            <a:ext cx="702129" cy="702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07805" y="3111771"/>
            <a:ext cx="671514" cy="67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7" title="67d25f39a9af6b056066b8ae_ARCS-ai logo-p-80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134350" y="1717200"/>
            <a:ext cx="732176" cy="732176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77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602"/>
              <a:buFont typeface="Poppins"/>
              <a:buNone/>
            </a:pPr>
            <a:r>
              <a:rPr b="1" lang="en-US" sz="1602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MEDIA HIGHLIGHTS: CAPTURING THE MOMENTUM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02383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657225" y="1013513"/>
            <a:ext cx="1250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987"/>
              <a:buFont typeface="Poppins"/>
              <a:buNone/>
            </a:pPr>
            <a:r>
              <a:rPr b="1" lang="en-US" sz="1087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Press &amp; Podcasts</a:t>
            </a:r>
            <a:endParaRPr sz="10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08153" y="1627389"/>
            <a:ext cx="1226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7"/>
              <a:buFont typeface="Poppins"/>
              <a:buNone/>
            </a:pPr>
            <a:r>
              <a:rPr b="1" lang="en-US" sz="937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News.am Coverage</a:t>
            </a:r>
            <a:endParaRPr sz="9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08153" y="1862270"/>
            <a:ext cx="945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7"/>
              <a:buFont typeface="Poppins"/>
              <a:buNone/>
            </a:pPr>
            <a:r>
              <a:rPr b="1" lang="en-US" sz="937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7"/>
              </a:rPr>
              <a:t>ArmPublicTV</a:t>
            </a:r>
            <a:endParaRPr sz="9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08153" y="2097151"/>
            <a:ext cx="1230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7"/>
              <a:buFont typeface="Poppins"/>
              <a:buNone/>
            </a:pPr>
            <a:r>
              <a:rPr b="1" lang="en-US" sz="937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EVN Report Podcast</a:t>
            </a:r>
            <a:endParaRPr sz="9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08153" y="2332033"/>
            <a:ext cx="1725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7"/>
              <a:buFont typeface="Poppins"/>
              <a:buNone/>
            </a:pPr>
            <a:r>
              <a:rPr b="1" lang="en-US" sz="937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9"/>
              </a:rPr>
              <a:t>iTel Tech News</a:t>
            </a:r>
            <a:endParaRPr sz="9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62325" y="1034782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3508784" y="1024463"/>
            <a:ext cx="1037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987"/>
              <a:buFont typeface="Poppins"/>
              <a:buNone/>
            </a:pPr>
            <a:r>
              <a:rPr b="1" lang="en-US" sz="1087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Video &amp; Social</a:t>
            </a:r>
            <a:endParaRPr sz="10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85708" y="1414618"/>
            <a:ext cx="76628" cy="12260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3365661" y="1393625"/>
            <a:ext cx="152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7"/>
              <a:buFont typeface="Poppins"/>
              <a:buNone/>
            </a:pPr>
            <a:r>
              <a:rPr b="1" lang="en-US" sz="937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2"/>
              </a:rPr>
              <a:t>2025 Recordings Playlist</a:t>
            </a:r>
            <a:endParaRPr sz="9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85708" y="1688289"/>
            <a:ext cx="76628" cy="12260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/>
          <p:nvPr/>
        </p:nvSpPr>
        <p:spPr>
          <a:xfrm>
            <a:off x="3365661" y="1667296"/>
            <a:ext cx="138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7"/>
              <a:buFont typeface="Poppins"/>
              <a:buNone/>
            </a:pPr>
            <a:r>
              <a:rPr b="1" lang="en-US" sz="937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4"/>
              </a:rPr>
              <a:t>Բա իմացար</a:t>
            </a:r>
            <a:endParaRPr b="1" sz="9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" name="Google Shape;196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185708" y="1961961"/>
            <a:ext cx="76628" cy="12260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3365661" y="1940968"/>
            <a:ext cx="1788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7"/>
              <a:buFont typeface="Poppins"/>
              <a:buNone/>
            </a:pPr>
            <a:r>
              <a:rPr b="1" lang="en-US" sz="937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6"/>
              </a:rPr>
              <a:t>LinkedIn Community Update</a:t>
            </a:r>
            <a:endParaRPr sz="9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185708" y="2235634"/>
            <a:ext cx="76628" cy="12260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3365661" y="2214639"/>
            <a:ext cx="133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7"/>
              <a:buFont typeface="Poppins"/>
              <a:buNone/>
            </a:pPr>
            <a:r>
              <a:rPr b="1" lang="en-US" sz="937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8"/>
              </a:rPr>
              <a:t>Instagram Highlights</a:t>
            </a:r>
            <a:endParaRPr sz="9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28653" y="2858891"/>
            <a:ext cx="2619300" cy="285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3262322" y="2858891"/>
            <a:ext cx="2619300" cy="285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096019" y="2858891"/>
            <a:ext cx="2619300" cy="285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28653" y="2926358"/>
            <a:ext cx="2619357" cy="174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20">
            <a:alphaModFix/>
          </a:blip>
          <a:srcRect b="10938" l="0" r="0" t="0"/>
          <a:stretch/>
        </p:blipFill>
        <p:spPr>
          <a:xfrm>
            <a:off x="3262322" y="2926359"/>
            <a:ext cx="2619356" cy="1749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-6313462" y="-3145280"/>
            <a:ext cx="289321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-7446192" y="-1393031"/>
            <a:ext cx="289321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095991" y="2926358"/>
            <a:ext cx="2627036" cy="17496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28633" y="1649495"/>
            <a:ext cx="76628" cy="1226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8633" y="1884377"/>
            <a:ext cx="76628" cy="1226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28633" y="2119258"/>
            <a:ext cx="76628" cy="1226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28633" y="2354139"/>
            <a:ext cx="76628" cy="1226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28633" y="1414614"/>
            <a:ext cx="76628" cy="12260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/>
          <p:nvPr/>
        </p:nvSpPr>
        <p:spPr>
          <a:xfrm>
            <a:off x="608161" y="1392508"/>
            <a:ext cx="133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7"/>
              <a:buFont typeface="Poppins"/>
              <a:buNone/>
            </a:pPr>
            <a:r>
              <a:rPr b="1" lang="en-US" sz="937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24"/>
              </a:rPr>
              <a:t>Gortsarar Aliq</a:t>
            </a:r>
            <a:endParaRPr sz="9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28633" y="2589021"/>
            <a:ext cx="76628" cy="12260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608161" y="2566914"/>
            <a:ext cx="133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37"/>
              <a:buFont typeface="Poppins"/>
              <a:buNone/>
            </a:pPr>
            <a:r>
              <a:rPr b="1" lang="en-US" sz="937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25"/>
              </a:rPr>
              <a:t>Gortsarar Aliq</a:t>
            </a:r>
            <a:endParaRPr sz="9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0" name="Google Shape;220;g395e0c14fd2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95e0c14fd2_1_9"/>
          <p:cNvSpPr txBox="1"/>
          <p:nvPr/>
        </p:nvSpPr>
        <p:spPr>
          <a:xfrm>
            <a:off x="427450" y="374225"/>
            <a:ext cx="85839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2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NEEDED BUDGET: 15,000 USD</a:t>
            </a:r>
            <a:endParaRPr b="1" sz="1602">
              <a:solidFill>
                <a:srgbClr val="0A19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g395e0c14fd2_1_9"/>
          <p:cNvSpPr txBox="1"/>
          <p:nvPr/>
        </p:nvSpPr>
        <p:spPr>
          <a:xfrm>
            <a:off x="427450" y="130401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RESEARCHER TRAVEL</a:t>
            </a:r>
            <a:endParaRPr b="1">
              <a:solidFill>
                <a:srgbClr val="6B21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g395e0c14fd2_1_9"/>
          <p:cNvSpPr txBox="1"/>
          <p:nvPr/>
        </p:nvSpPr>
        <p:spPr>
          <a:xfrm>
            <a:off x="4807875" y="130401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STUDENT FINANCIAL AID</a:t>
            </a:r>
            <a:endParaRPr b="1">
              <a:solidFill>
                <a:srgbClr val="6B21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g395e0c14fd2_1_9"/>
          <p:cNvSpPr txBox="1"/>
          <p:nvPr/>
        </p:nvSpPr>
        <p:spPr>
          <a:xfrm>
            <a:off x="427450" y="1704218"/>
            <a:ext cx="359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Covers travel and accommodation for </a:t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5 world-class researchers from the US, Canada, and Europe </a:t>
            </a:r>
            <a:r>
              <a:rPr lang="en-US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to teach at the summer school.</a:t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Covers ticket and accommodation</a:t>
            </a:r>
            <a:endParaRPr i="1"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g395e0c14fd2_1_9"/>
          <p:cNvSpPr txBox="1"/>
          <p:nvPr/>
        </p:nvSpPr>
        <p:spPr>
          <a:xfrm>
            <a:off x="4807875" y="1704218"/>
            <a:ext cx="359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Providing </a:t>
            </a:r>
            <a:r>
              <a:rPr b="1" lang="en-US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up to 90% financial aid for Armenian University students</a:t>
            </a:r>
            <a:r>
              <a:rPr lang="en-US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to ensure merit-based access to high-quality AI education.</a:t>
            </a:r>
            <a:endParaRPr sz="12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g395e0c14fd2_1_9"/>
          <p:cNvSpPr txBox="1"/>
          <p:nvPr/>
        </p:nvSpPr>
        <p:spPr>
          <a:xfrm>
            <a:off x="2494625" y="3016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F172A"/>
              </a:solidFill>
            </a:endParaRPr>
          </a:p>
        </p:txBody>
      </p:sp>
      <p:sp>
        <p:nvSpPr>
          <p:cNvPr id="227" name="Google Shape;227;g395e0c14fd2_1_9"/>
          <p:cNvSpPr/>
          <p:nvPr/>
        </p:nvSpPr>
        <p:spPr>
          <a:xfrm>
            <a:off x="575950" y="4301675"/>
            <a:ext cx="8286900" cy="6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95e0c14fd2_1_9"/>
          <p:cNvSpPr/>
          <p:nvPr/>
        </p:nvSpPr>
        <p:spPr>
          <a:xfrm>
            <a:off x="575950" y="4301675"/>
            <a:ext cx="8286900" cy="285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95e0c14fd2_1_9"/>
          <p:cNvSpPr/>
          <p:nvPr/>
        </p:nvSpPr>
        <p:spPr>
          <a:xfrm>
            <a:off x="861700" y="4491646"/>
            <a:ext cx="77154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885"/>
              <a:buFont typeface="Poppins"/>
              <a:buNone/>
            </a:pPr>
            <a:r>
              <a:rPr b="1" lang="en-US" sz="1085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Your support directly enables global expertise to empower local talent in Armenia.</a:t>
            </a:r>
            <a:endParaRPr b="1" sz="1085">
              <a:solidFill>
                <a:srgbClr val="0A19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5" name="Google Shape;2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602"/>
              <a:buFont typeface="Poppins"/>
              <a:buNone/>
            </a:pPr>
            <a:r>
              <a:rPr b="1" lang="en-US" sz="1602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PARTNER WITH US TO SHAPE THE FUTURE OF AI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24380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428625" y="1751013"/>
            <a:ext cx="15126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090"/>
              <a:buFont typeface="Poppins"/>
              <a:buNone/>
            </a:pPr>
            <a:r>
              <a:rPr b="1" lang="en-US" sz="119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Talent Pool Growth</a:t>
            </a:r>
            <a:endParaRPr sz="11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28625" y="2157413"/>
            <a:ext cx="2571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Directly contribute to the growth of the Armenian AI talent pool by supporting 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merit-based education for top students.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6125" y="1243806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/>
          <p:nvPr/>
        </p:nvSpPr>
        <p:spPr>
          <a:xfrm>
            <a:off x="3286125" y="1751013"/>
            <a:ext cx="12234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090"/>
              <a:buFont typeface="Poppins"/>
              <a:buNone/>
            </a:pPr>
            <a:r>
              <a:rPr b="1" lang="en-US" sz="119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Brand Visibility</a:t>
            </a:r>
            <a:endParaRPr sz="11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286125" y="2157413"/>
            <a:ext cx="257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Gain prominent visibility among 200+ high-caliber AI applicants, industry leaders, and global researchers.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3625" y="1243806"/>
            <a:ext cx="35718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/>
          <p:nvPr/>
        </p:nvSpPr>
        <p:spPr>
          <a:xfrm>
            <a:off x="6143625" y="1751013"/>
            <a:ext cx="14913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090"/>
              <a:buFont typeface="Poppins"/>
              <a:buNone/>
            </a:pPr>
            <a:r>
              <a:rPr b="1" lang="en-US" sz="1190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Global Networking</a:t>
            </a:r>
            <a:endParaRPr sz="11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143625" y="2157413"/>
            <a:ext cx="257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Connect with world-class researchers from top institutions and local innovators in the Armenian tech ecosystem.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0" y="3607594"/>
            <a:ext cx="9144000" cy="153590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0" y="3607594"/>
            <a:ext cx="9144000" cy="14288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28625" y="3907631"/>
            <a:ext cx="2953941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683"/>
              <a:buFont typeface="Poppins"/>
              <a:buNone/>
            </a:pPr>
            <a:r>
              <a:rPr b="1" lang="en-US" sz="983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GET INVOLVED</a:t>
            </a:r>
            <a:endParaRPr sz="9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28625" y="4130873"/>
            <a:ext cx="29539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602"/>
              <a:buFont typeface="Poppins"/>
              <a:buNone/>
            </a:pPr>
            <a:r>
              <a:rPr b="1" lang="en-US" sz="1602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armeniallm@gmail.com</a:t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28625" y="4453322"/>
            <a:ext cx="29538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Join us for the 2026 Edition in Yerevan.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802636" y="3907631"/>
            <a:ext cx="1912739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683"/>
              <a:buFont typeface="Poppins"/>
              <a:buNone/>
            </a:pPr>
            <a:r>
              <a:rPr b="1" lang="en-US" sz="983">
                <a:solidFill>
                  <a:srgbClr val="6B21A8"/>
                </a:solidFill>
                <a:latin typeface="Poppins"/>
                <a:ea typeface="Poppins"/>
                <a:cs typeface="Poppins"/>
                <a:sym typeface="Poppins"/>
              </a:rPr>
              <a:t>VENUE SPONSOR</a:t>
            </a:r>
            <a:endParaRPr sz="9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802636" y="4130873"/>
            <a:ext cx="1912739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1193"/>
              <a:buFont typeface="Poppins"/>
              <a:buNone/>
            </a:pPr>
            <a:r>
              <a:rPr b="1" lang="en-US" sz="1293">
                <a:solidFill>
                  <a:srgbClr val="0A192F"/>
                </a:solidFill>
                <a:latin typeface="Poppins"/>
                <a:ea typeface="Poppins"/>
                <a:cs typeface="Poppins"/>
                <a:sym typeface="Poppins"/>
              </a:rPr>
              <a:t>AI9 STARTUP CAMPUS</a:t>
            </a:r>
            <a:endParaRPr sz="12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413500" y="4453322"/>
            <a:ext cx="23019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34"/>
              <a:buFont typeface="Poppins"/>
              <a:buNone/>
            </a:pPr>
            <a:r>
              <a:rPr lang="en-US" sz="103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9 Isahakyan St, Yerevan, Armenia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2026-03-07T17:00:21Z</dcterms:created>
  <dc:creator>PptxGenJS</dc:creator>
</cp:coreProperties>
</file>