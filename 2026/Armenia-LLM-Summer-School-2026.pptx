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2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85800"/>
            <a:ext cx="1097280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818CF8"/>
                </a:solidFill>
              </a:defRPr>
            </a:pPr>
            <a:r>
              <a:t>Armenia LLM Summer School 2026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155448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C1C9DB"/>
                </a:solidFill>
              </a:defRPr>
            </a:pPr>
            <a:r>
              <a:t>Based on https://armllm.github.io/2026/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2148840"/>
            <a:ext cx="1078992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500">
                <a:solidFill>
                  <a:srgbClr val="F0F4FF"/>
                </a:solidFill>
              </a:defRPr>
            </a:pPr>
            <a:r>
              <a:t>AI9 Startup Campus • Yerevan, Armenia</a:t>
            </a:r>
          </a:p>
          <a:p>
            <a:pPr>
              <a:spcAft>
                <a:spcPts val="1000"/>
              </a:spcAft>
              <a:defRPr sz="2500">
                <a:solidFill>
                  <a:srgbClr val="F0F4FF"/>
                </a:solidFill>
              </a:defRPr>
            </a:pPr>
            <a:r>
              <a:t>August 3–7, 2026 (Hackathon: August 8, 24-hour)</a:t>
            </a:r>
          </a:p>
          <a:p>
            <a:pPr>
              <a:spcAft>
                <a:spcPts val="1000"/>
              </a:spcAft>
              <a:defRPr sz="2500">
                <a:solidFill>
                  <a:srgbClr val="F0F4FF"/>
                </a:solidFill>
              </a:defRPr>
            </a:pPr>
            <a:r>
              <a:t>In-person program + Zoom-based online theory track</a:t>
            </a:r>
          </a:p>
          <a:p>
            <a:pPr>
              <a:spcAft>
                <a:spcPts val="1000"/>
              </a:spcAft>
              <a:defRPr sz="2500">
                <a:solidFill>
                  <a:srgbClr val="F0F4FF"/>
                </a:solidFill>
              </a:defRPr>
            </a:pPr>
            <a:r>
              <a:t>Applications are currently open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355080"/>
            <a:ext cx="10972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C1C9DB"/>
                </a:solidFill>
              </a:defRPr>
            </a:pPr>
            <a:r>
              <a:t>Armenia LLM Summer School • 2026 Overview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2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85800"/>
            <a:ext cx="1097280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818CF8"/>
                </a:solidFill>
              </a:defRPr>
            </a:pPr>
            <a:r>
              <a:t>Program Overview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155448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C1C9DB"/>
                </a:solidFill>
              </a:defRPr>
            </a:pPr>
            <a:r>
              <a:t>Annual event focused on modern LLM education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2103120"/>
            <a:ext cx="1078992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300">
                <a:solidFill>
                  <a:srgbClr val="F0F4FF"/>
                </a:solidFill>
              </a:defRPr>
            </a:pPr>
            <a:r>
              <a:t>Comprehensive lectures on Large Language Models</a:t>
            </a:r>
          </a:p>
          <a:p>
            <a:pPr>
              <a:spcAft>
                <a:spcPts val="1000"/>
              </a:spcAft>
              <a:defRPr sz="2300">
                <a:solidFill>
                  <a:srgbClr val="F0F4FF"/>
                </a:solidFill>
              </a:defRPr>
            </a:pPr>
            <a:r>
              <a:t>Hands-on workshops and practical sessions</a:t>
            </a:r>
          </a:p>
          <a:p>
            <a:pPr>
              <a:spcAft>
                <a:spcPts val="1000"/>
              </a:spcAft>
              <a:defRPr sz="2300">
                <a:solidFill>
                  <a:srgbClr val="F0F4FF"/>
                </a:solidFill>
              </a:defRPr>
            </a:pPr>
            <a:r>
              <a:t>Online theoretical track for broader access</a:t>
            </a:r>
          </a:p>
          <a:p>
            <a:pPr>
              <a:spcAft>
                <a:spcPts val="1000"/>
              </a:spcAft>
              <a:defRPr sz="2300">
                <a:solidFill>
                  <a:srgbClr val="F0F4FF"/>
                </a:solidFill>
              </a:defRPr>
            </a:pPr>
            <a:r>
              <a:t>24-hour AI9-organized hackathon with ArmLLM co-organizing content</a:t>
            </a:r>
          </a:p>
          <a:p>
            <a:pPr>
              <a:spcAft>
                <a:spcPts val="1000"/>
              </a:spcAft>
              <a:defRPr sz="2300">
                <a:solidFill>
                  <a:srgbClr val="F0F4FF"/>
                </a:solidFill>
              </a:defRPr>
            </a:pPr>
            <a:r>
              <a:t>Built on successful 2024 and 2025 editions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355080"/>
            <a:ext cx="10972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C1C9DB"/>
                </a:solidFill>
              </a:defRPr>
            </a:pPr>
            <a:r>
              <a:t>Source: About + Format sections on armllm.github.io/2026/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2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85800"/>
            <a:ext cx="1097280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818CF8"/>
                </a:solidFill>
              </a:defRPr>
            </a:pPr>
            <a:r>
              <a:t>Key Dates and Location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1965960"/>
            <a:ext cx="5623560" cy="4297680"/>
          </a:xfrm>
          <a:prstGeom prst="roundRect">
            <a:avLst/>
          </a:prstGeom>
          <a:solidFill>
            <a:srgbClr val="141C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355080" y="1965960"/>
            <a:ext cx="5212080" cy="4297680"/>
          </a:xfrm>
          <a:prstGeom prst="roundRect">
            <a:avLst/>
          </a:prstGeom>
          <a:solidFill>
            <a:srgbClr val="141C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2148840"/>
            <a:ext cx="5029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818CF8"/>
                </a:solidFill>
              </a:defRPr>
            </a:pPr>
            <a:r>
              <a:t>Important Dates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0" y="2148840"/>
            <a:ext cx="47548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818CF8"/>
                </a:solidFill>
              </a:defRPr>
            </a:pPr>
            <a:r>
              <a:t>Venue &amp; Format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651760"/>
            <a:ext cx="512064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>
                <a:solidFill>
                  <a:srgbClr val="F0F4FF"/>
                </a:solidFill>
              </a:defRPr>
            </a:pPr>
            <a:r>
              <a:t>May 15, 2026: Application deadline (form + CV)</a:t>
            </a:r>
          </a:p>
          <a:p>
            <a:pPr>
              <a:spcAft>
                <a:spcPts val="1000"/>
              </a:spcAft>
              <a:defRPr sz="1800">
                <a:solidFill>
                  <a:srgbClr val="F0F4FF"/>
                </a:solidFill>
              </a:defRPr>
            </a:pPr>
            <a:r>
              <a:t>May 28, 2026: Technical assessment sent by email</a:t>
            </a:r>
          </a:p>
          <a:p>
            <a:pPr>
              <a:spcAft>
                <a:spcPts val="1000"/>
              </a:spcAft>
              <a:defRPr sz="1800">
                <a:solidFill>
                  <a:srgbClr val="F0F4FF"/>
                </a:solidFill>
              </a:defRPr>
            </a:pPr>
            <a:r>
              <a:t>By June 5, 2026: Admission decisions</a:t>
            </a:r>
          </a:p>
          <a:p>
            <a:pPr>
              <a:spcAft>
                <a:spcPts val="1000"/>
              </a:spcAft>
              <a:defRPr sz="1800">
                <a:solidFill>
                  <a:srgbClr val="F0F4FF"/>
                </a:solidFill>
              </a:defRPr>
            </a:pPr>
            <a:r>
              <a:t>Aug 3–7, 2026: Summer school week</a:t>
            </a:r>
          </a:p>
          <a:p>
            <a:pPr>
              <a:spcAft>
                <a:spcPts val="1000"/>
              </a:spcAft>
              <a:defRPr sz="1800">
                <a:solidFill>
                  <a:srgbClr val="F0F4FF"/>
                </a:solidFill>
              </a:defRPr>
            </a:pPr>
            <a:r>
              <a:t>Aug 8, 2026: Hackathon (starts 00:00)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83680" y="2651760"/>
            <a:ext cx="457200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>
                <a:solidFill>
                  <a:srgbClr val="F0F4FF"/>
                </a:solidFill>
              </a:defRPr>
            </a:pPr>
            <a:r>
              <a:t>Venue: AI9 Startup Campus</a:t>
            </a:r>
          </a:p>
          <a:p>
            <a:pPr>
              <a:spcAft>
                <a:spcPts val="1000"/>
              </a:spcAft>
              <a:defRPr sz="1800">
                <a:solidFill>
                  <a:srgbClr val="F0F4FF"/>
                </a:solidFill>
              </a:defRPr>
            </a:pPr>
            <a:r>
              <a:t>Address: 9 Isahakyan St, Yerevan, Armenia</a:t>
            </a:r>
          </a:p>
          <a:p>
            <a:pPr>
              <a:spcAft>
                <a:spcPts val="1000"/>
              </a:spcAft>
              <a:defRPr sz="1800">
                <a:solidFill>
                  <a:srgbClr val="F0F4FF"/>
                </a:solidFill>
              </a:defRPr>
            </a:pPr>
            <a:r>
              <a:t>Hybrid attendance model</a:t>
            </a:r>
          </a:p>
          <a:p>
            <a:pPr>
              <a:spcAft>
                <a:spcPts val="1000"/>
              </a:spcAft>
              <a:defRPr sz="1800">
                <a:solidFill>
                  <a:srgbClr val="F0F4FF"/>
                </a:solidFill>
              </a:defRPr>
            </a:pPr>
            <a:r>
              <a:t>In-person includes practical sessions and GPU access</a:t>
            </a:r>
          </a:p>
          <a:p>
            <a:pPr>
              <a:spcAft>
                <a:spcPts val="1000"/>
              </a:spcAft>
              <a:defRPr sz="1800">
                <a:solidFill>
                  <a:srgbClr val="F0F4FF"/>
                </a:solidFill>
              </a:defRPr>
            </a:pPr>
            <a:r>
              <a:t>Online focuses on theory via Zoom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6355080"/>
            <a:ext cx="10972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C1C9DB"/>
                </a:solidFill>
              </a:defRPr>
            </a:pPr>
            <a:r>
              <a:t>Source: Hero, About, Apply, and FAQ sections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2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85800"/>
            <a:ext cx="1097280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818CF8"/>
                </a:solidFill>
              </a:defRPr>
            </a:pPr>
            <a:r>
              <a:t>Application Process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2148840"/>
            <a:ext cx="1078992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400">
                <a:solidFill>
                  <a:srgbClr val="F0F4FF"/>
                </a:solidFill>
              </a:defRPr>
            </a:pPr>
            <a:r>
              <a:t>Two-stage competitive selection process</a:t>
            </a:r>
          </a:p>
          <a:p>
            <a:pPr>
              <a:spcAft>
                <a:spcPts val="1000"/>
              </a:spcAft>
              <a:defRPr sz="2400">
                <a:solidFill>
                  <a:srgbClr val="F0F4FF"/>
                </a:solidFill>
              </a:defRPr>
            </a:pPr>
            <a:r>
              <a:t>Stage 1: Submit application form + CV</a:t>
            </a:r>
          </a:p>
          <a:p>
            <a:pPr>
              <a:spcAft>
                <a:spcPts val="1000"/>
              </a:spcAft>
              <a:defRPr sz="2400">
                <a:solidFill>
                  <a:srgbClr val="F0F4FF"/>
                </a:solidFill>
              </a:defRPr>
            </a:pPr>
            <a:r>
              <a:t>Stage 2: Complete technical assessment</a:t>
            </a:r>
          </a:p>
          <a:p>
            <a:pPr>
              <a:spcAft>
                <a:spcPts val="1000"/>
              </a:spcAft>
              <a:defRPr sz="2400">
                <a:solidFill>
                  <a:srgbClr val="F0F4FF"/>
                </a:solidFill>
              </a:defRPr>
            </a:pPr>
            <a:r>
              <a:t>Watch email for test link and official updates</a:t>
            </a:r>
          </a:p>
          <a:p>
            <a:pPr>
              <a:spcAft>
                <a:spcPts val="1000"/>
              </a:spcAft>
              <a:defRPr sz="2400">
                <a:solidFill>
                  <a:srgbClr val="F0F4FF"/>
                </a:solidFill>
              </a:defRPr>
            </a:pPr>
            <a:r>
              <a:t>Contact: armeniallm@gmail.com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355080"/>
            <a:ext cx="10972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C1C9DB"/>
                </a:solidFill>
              </a:defRPr>
            </a:pPr>
            <a:r>
              <a:t>Apply links: forms.gle/1HnZ4BLitQkXo2reA and fee waiver form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2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85800"/>
            <a:ext cx="1097280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818CF8"/>
                </a:solidFill>
              </a:defRPr>
            </a:pPr>
            <a:r>
              <a:t>Fees and Financial Aid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1965960"/>
            <a:ext cx="5623560" cy="4297680"/>
          </a:xfrm>
          <a:prstGeom prst="roundRect">
            <a:avLst/>
          </a:prstGeom>
          <a:solidFill>
            <a:srgbClr val="141C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355080" y="1965960"/>
            <a:ext cx="5212080" cy="4297680"/>
          </a:xfrm>
          <a:prstGeom prst="roundRect">
            <a:avLst/>
          </a:prstGeom>
          <a:solidFill>
            <a:srgbClr val="141C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2148840"/>
            <a:ext cx="5029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818CF8"/>
                </a:solidFill>
              </a:defRPr>
            </a:pPr>
            <a:r>
              <a:t>Participation Fees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0" y="2148840"/>
            <a:ext cx="47548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818CF8"/>
                </a:solidFill>
              </a:defRPr>
            </a:pPr>
            <a:r>
              <a:t>Financial Aid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651760"/>
            <a:ext cx="512064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>
                <a:solidFill>
                  <a:srgbClr val="F0F4FF"/>
                </a:solidFill>
              </a:defRPr>
            </a:pPr>
            <a:r>
              <a:t>In-person: 100,000 AMD (or equivalent)</a:t>
            </a:r>
          </a:p>
          <a:p>
            <a:pPr>
              <a:spcAft>
                <a:spcPts val="1000"/>
              </a:spcAft>
              <a:defRPr sz="1800">
                <a:solidFill>
                  <a:srgbClr val="F0F4FF"/>
                </a:solidFill>
              </a:defRPr>
            </a:pPr>
            <a:r>
              <a:t>Online: $200 (or equivalent)</a:t>
            </a:r>
          </a:p>
          <a:p>
            <a:pPr>
              <a:spcAft>
                <a:spcPts val="1000"/>
              </a:spcAft>
              <a:defRPr sz="1800">
                <a:solidFill>
                  <a:srgbClr val="F0F4FF"/>
                </a:solidFill>
              </a:defRPr>
            </a:pPr>
            <a:r>
              <a:t>In-person includes theory + practical + GPU access</a:t>
            </a:r>
          </a:p>
          <a:p>
            <a:pPr>
              <a:spcAft>
                <a:spcPts val="1000"/>
              </a:spcAft>
              <a:defRPr sz="1800">
                <a:solidFill>
                  <a:srgbClr val="F0F4FF"/>
                </a:solidFill>
              </a:defRPr>
            </a:pPr>
            <a:r>
              <a:t>Online typically does not include shared GPU access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83680" y="2651760"/>
            <a:ext cx="457200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>
                <a:solidFill>
                  <a:srgbClr val="F0F4FF"/>
                </a:solidFill>
              </a:defRPr>
            </a:pPr>
            <a:r>
              <a:t>Student fee waivers up to 90%</a:t>
            </a:r>
          </a:p>
          <a:p>
            <a:pPr>
              <a:spcAft>
                <a:spcPts val="1000"/>
              </a:spcAft>
              <a:defRPr sz="1800">
                <a:solidFill>
                  <a:srgbClr val="F0F4FF"/>
                </a:solidFill>
              </a:defRPr>
            </a:pPr>
            <a:r>
              <a:t>Additional discounts may be available based on funding</a:t>
            </a:r>
          </a:p>
          <a:p>
            <a:pPr>
              <a:spcAft>
                <a:spcPts val="1000"/>
              </a:spcAft>
              <a:defRPr sz="1800">
                <a:solidFill>
                  <a:srgbClr val="F0F4FF"/>
                </a:solidFill>
              </a:defRPr>
            </a:pPr>
            <a:r>
              <a:t>Aid request can be submitted in the application flow</a:t>
            </a:r>
          </a:p>
          <a:p>
            <a:pPr>
              <a:spcAft>
                <a:spcPts val="1000"/>
              </a:spcAft>
              <a:defRPr sz="1800">
                <a:solidFill>
                  <a:srgbClr val="F0F4FF"/>
                </a:solidFill>
              </a:defRPr>
            </a:pPr>
            <a:r>
              <a:t>International payment support provided after acceptance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6355080"/>
            <a:ext cx="10972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C1C9DB"/>
                </a:solidFill>
              </a:defRPr>
            </a:pPr>
            <a:r>
              <a:t>Source: Fees section + FAQ (fees, aid, payments)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2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85800"/>
            <a:ext cx="1097280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818CF8"/>
                </a:solidFill>
              </a:defRPr>
            </a:pPr>
            <a:r>
              <a:t>Participant Experience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1965960"/>
            <a:ext cx="5623560" cy="4297680"/>
          </a:xfrm>
          <a:prstGeom prst="roundRect">
            <a:avLst/>
          </a:prstGeom>
          <a:solidFill>
            <a:srgbClr val="141C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355080" y="1965960"/>
            <a:ext cx="5212080" cy="4297680"/>
          </a:xfrm>
          <a:prstGeom prst="roundRect">
            <a:avLst/>
          </a:prstGeom>
          <a:solidFill>
            <a:srgbClr val="141C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2148840"/>
            <a:ext cx="5029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818CF8"/>
                </a:solidFill>
              </a:defRPr>
            </a:pPr>
            <a:r>
              <a:t>What Participants Need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0" y="2148840"/>
            <a:ext cx="47548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818CF8"/>
                </a:solidFill>
              </a:defRPr>
            </a:pPr>
            <a:r>
              <a:t>What Participants Receive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651760"/>
            <a:ext cx="512064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>
                <a:solidFill>
                  <a:srgbClr val="F0F4FF"/>
                </a:solidFill>
              </a:defRPr>
            </a:pPr>
            <a:r>
              <a:t>Bring a laptop for all practical sessions</a:t>
            </a:r>
          </a:p>
          <a:p>
            <a:pPr>
              <a:spcAft>
                <a:spcPts val="1000"/>
              </a:spcAft>
              <a:defRPr sz="1800">
                <a:solidFill>
                  <a:srgbClr val="F0F4FF"/>
                </a:solidFill>
              </a:defRPr>
            </a:pPr>
            <a:r>
              <a:t>Python proficiency is expected</a:t>
            </a:r>
          </a:p>
          <a:p>
            <a:pPr>
              <a:spcAft>
                <a:spcPts val="1000"/>
              </a:spcAft>
              <a:defRPr sz="1800">
                <a:solidFill>
                  <a:srgbClr val="F0F4FF"/>
                </a:solidFill>
              </a:defRPr>
            </a:pPr>
            <a:r>
              <a:t>Foundational ML / neural network knowledge is expected</a:t>
            </a:r>
          </a:p>
          <a:p>
            <a:pPr>
              <a:spcAft>
                <a:spcPts val="1000"/>
              </a:spcAft>
              <a:defRPr sz="1800">
                <a:solidFill>
                  <a:srgbClr val="F0F4FF"/>
                </a:solidFill>
              </a:defRPr>
            </a:pPr>
            <a:r>
              <a:t>No prior hands-on LLM experience is required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83680" y="2651760"/>
            <a:ext cx="457200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>
                <a:solidFill>
                  <a:srgbClr val="F0F4FF"/>
                </a:solidFill>
              </a:defRPr>
            </a:pPr>
            <a:r>
              <a:t>Full-week learning across theory and practice</a:t>
            </a:r>
          </a:p>
          <a:p>
            <a:pPr>
              <a:spcAft>
                <a:spcPts val="1000"/>
              </a:spcAft>
              <a:defRPr sz="1800">
                <a:solidFill>
                  <a:srgbClr val="F0F4FF"/>
                </a:solidFill>
              </a:defRPr>
            </a:pPr>
            <a:r>
              <a:t>Slack channel for daily agenda and materials</a:t>
            </a:r>
          </a:p>
          <a:p>
            <a:pPr>
              <a:spcAft>
                <a:spcPts val="1000"/>
              </a:spcAft>
              <a:defRPr sz="1800">
                <a:solidFill>
                  <a:srgbClr val="F0F4FF"/>
                </a:solidFill>
              </a:defRPr>
            </a:pPr>
            <a:r>
              <a:t>Certificate of Participation (upon full attendance)</a:t>
            </a:r>
          </a:p>
          <a:p>
            <a:pPr>
              <a:spcAft>
                <a:spcPts val="1000"/>
              </a:spcAft>
              <a:defRPr sz="1800">
                <a:solidFill>
                  <a:srgbClr val="F0F4FF"/>
                </a:solidFill>
              </a:defRPr>
            </a:pPr>
            <a:r>
              <a:t>Hackathon participation pathway (separate registration)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6355080"/>
            <a:ext cx="10972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C1C9DB"/>
                </a:solidFill>
              </a:defRPr>
            </a:pPr>
            <a:r>
              <a:t>Source: FAQ (overview, eligibility, participation)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2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85800"/>
            <a:ext cx="1097280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818CF8"/>
                </a:solidFill>
              </a:defRPr>
            </a:pPr>
            <a:r>
              <a:t>Speakers, Agenda, and Current Status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2286000"/>
            <a:ext cx="1078992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400">
                <a:solidFill>
                  <a:srgbClr val="F0F4FF"/>
                </a:solidFill>
              </a:defRPr>
            </a:pPr>
            <a:r>
              <a:t>Featured speakers list: To be updated</a:t>
            </a:r>
          </a:p>
          <a:p>
            <a:pPr>
              <a:spcAft>
                <a:spcPts val="1000"/>
              </a:spcAft>
              <a:defRPr sz="2400">
                <a:solidFill>
                  <a:srgbClr val="F0F4FF"/>
                </a:solidFill>
              </a:defRPr>
            </a:pPr>
            <a:r>
              <a:t>Day-by-day agenda: To be updated</a:t>
            </a:r>
          </a:p>
          <a:p>
            <a:pPr>
              <a:spcAft>
                <a:spcPts val="1000"/>
              </a:spcAft>
              <a:defRPr sz="2400">
                <a:solidFill>
                  <a:srgbClr val="F0F4FF"/>
                </a:solidFill>
              </a:defRPr>
            </a:pPr>
            <a:r>
              <a:t>Applications and logistics information are already published</a:t>
            </a:r>
          </a:p>
          <a:p>
            <a:pPr>
              <a:spcAft>
                <a:spcPts val="1000"/>
              </a:spcAft>
              <a:defRPr sz="2400">
                <a:solidFill>
                  <a:srgbClr val="F0F4FF"/>
                </a:solidFill>
              </a:defRPr>
            </a:pPr>
            <a:r>
              <a:t>Program details will be announced closer to event dates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355080"/>
            <a:ext cx="10972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C1C9DB"/>
                </a:solidFill>
              </a:defRPr>
            </a:pPr>
            <a:r>
              <a:t>Source: Speakers and Agenda sections on the 2026 page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2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85800"/>
            <a:ext cx="1097280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818CF8"/>
                </a:solidFill>
              </a:defRPr>
            </a:pPr>
            <a:r>
              <a:t>Organizers and Sponsor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1965960"/>
            <a:ext cx="5623560" cy="4297680"/>
          </a:xfrm>
          <a:prstGeom prst="roundRect">
            <a:avLst/>
          </a:prstGeom>
          <a:solidFill>
            <a:srgbClr val="141C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355080" y="1965960"/>
            <a:ext cx="5212080" cy="4297680"/>
          </a:xfrm>
          <a:prstGeom prst="roundRect">
            <a:avLst/>
          </a:prstGeom>
          <a:solidFill>
            <a:srgbClr val="141C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2148840"/>
            <a:ext cx="5029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818CF8"/>
                </a:solidFill>
              </a:defRPr>
            </a:pPr>
            <a:r>
              <a:t>Organizers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0" y="2148840"/>
            <a:ext cx="47548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818CF8"/>
                </a:solidFill>
              </a:defRPr>
            </a:pPr>
            <a:r>
              <a:t>2026 Sponsor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651760"/>
            <a:ext cx="512064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>
                <a:solidFill>
                  <a:srgbClr val="F0F4FF"/>
                </a:solidFill>
              </a:defRPr>
            </a:pPr>
            <a:r>
              <a:t>Armen Aghajanyan (Perceptron AI)</a:t>
            </a:r>
          </a:p>
          <a:p>
            <a:pPr>
              <a:spcAft>
                <a:spcPts val="1000"/>
              </a:spcAft>
              <a:defRPr sz="1800">
                <a:solidFill>
                  <a:srgbClr val="F0F4FF"/>
                </a:solidFill>
              </a:defRPr>
            </a:pPr>
            <a:r>
              <a:t>Erik Arakelyan (Nvidia)</a:t>
            </a:r>
          </a:p>
          <a:p>
            <a:pPr>
              <a:spcAft>
                <a:spcPts val="1000"/>
              </a:spcAft>
              <a:defRPr sz="1800">
                <a:solidFill>
                  <a:srgbClr val="F0F4FF"/>
                </a:solidFill>
              </a:defRPr>
            </a:pPr>
            <a:r>
              <a:t>Aram Galstyan (USC / Amazon)</a:t>
            </a:r>
          </a:p>
          <a:p>
            <a:pPr>
              <a:spcAft>
                <a:spcPts val="1000"/>
              </a:spcAft>
              <a:defRPr sz="1800">
                <a:solidFill>
                  <a:srgbClr val="F0F4FF"/>
                </a:solidFill>
              </a:defRPr>
            </a:pPr>
            <a:r>
              <a:t>Hrant Khachatryan (YerevaNN)</a:t>
            </a:r>
          </a:p>
          <a:p>
            <a:pPr>
              <a:spcAft>
                <a:spcPts val="1000"/>
              </a:spcAft>
              <a:defRPr sz="1800">
                <a:solidFill>
                  <a:srgbClr val="F0F4FF"/>
                </a:solidFill>
              </a:defRPr>
            </a:pPr>
            <a:r>
              <a:t>Perouz Taslakian (ServiceNow Research)</a:t>
            </a:r>
          </a:p>
          <a:p>
            <a:pPr>
              <a:spcAft>
                <a:spcPts val="1000"/>
              </a:spcAft>
              <a:defRPr sz="1800">
                <a:solidFill>
                  <a:srgbClr val="F0F4FF"/>
                </a:solidFill>
              </a:defRPr>
            </a:pPr>
            <a:r>
              <a:t>Tatevik Vardanyan (YerevaNN)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83680" y="2651760"/>
            <a:ext cx="457200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>
                <a:solidFill>
                  <a:srgbClr val="F0F4FF"/>
                </a:solidFill>
              </a:defRPr>
            </a:pPr>
            <a:r>
              <a:t>Venue Sponsor: AI9 Startup Campus</a:t>
            </a:r>
          </a:p>
          <a:p>
            <a:pPr>
              <a:spcAft>
                <a:spcPts val="1000"/>
              </a:spcAft>
              <a:defRPr sz="1800">
                <a:solidFill>
                  <a:srgbClr val="F0F4FF"/>
                </a:solidFill>
              </a:defRPr>
            </a:pPr>
            <a:r>
              <a:t>Partner website: https://www.ai9.am/</a:t>
            </a:r>
          </a:p>
          <a:p>
            <a:pPr>
              <a:spcAft>
                <a:spcPts val="1000"/>
              </a:spcAft>
              <a:defRPr sz="1800">
                <a:solidFill>
                  <a:srgbClr val="F0F4FF"/>
                </a:solidFill>
              </a:defRPr>
            </a:pPr>
            <a:r>
              <a:t>Location support for in-person activities</a:t>
            </a:r>
          </a:p>
          <a:p>
            <a:pPr>
              <a:spcAft>
                <a:spcPts val="1000"/>
              </a:spcAft>
              <a:defRPr sz="1800">
                <a:solidFill>
                  <a:srgbClr val="F0F4FF"/>
                </a:solidFill>
              </a:defRPr>
            </a:pPr>
            <a:r>
              <a:t>Hackathon organized by AI9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6355080"/>
            <a:ext cx="10972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C1C9DB"/>
                </a:solidFill>
              </a:defRPr>
            </a:pPr>
            <a:r>
              <a:t>Source: Sponsors + Organizers sections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2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85800"/>
            <a:ext cx="1097280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818CF8"/>
                </a:solidFill>
              </a:defRPr>
            </a:pPr>
            <a:r>
              <a:t>Past Editions and Links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2148840"/>
            <a:ext cx="1078992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300">
                <a:solidFill>
                  <a:srgbClr val="F0F4FF"/>
                </a:solidFill>
              </a:defRPr>
            </a:pPr>
            <a:r>
              <a:t>2025 (2nd edition): Jul 24–30, 2025</a:t>
            </a:r>
          </a:p>
          <a:p>
            <a:pPr>
              <a:spcAft>
                <a:spcPts val="1000"/>
              </a:spcAft>
              <a:defRPr sz="2300">
                <a:solidFill>
                  <a:srgbClr val="F0F4FF"/>
                </a:solidFill>
              </a:defRPr>
            </a:pPr>
            <a:r>
              <a:t>2024 (1st edition): Inaugural summer school</a:t>
            </a:r>
          </a:p>
          <a:p>
            <a:pPr>
              <a:spcAft>
                <a:spcPts val="1000"/>
              </a:spcAft>
              <a:defRPr sz="2300">
                <a:solidFill>
                  <a:srgbClr val="F0F4FF"/>
                </a:solidFill>
              </a:defRPr>
            </a:pPr>
            <a:r>
              <a:t>2026 page: https://armllm.github.io/2026/</a:t>
            </a:r>
          </a:p>
          <a:p>
            <a:pPr>
              <a:spcAft>
                <a:spcPts val="1000"/>
              </a:spcAft>
              <a:defRPr sz="2300">
                <a:solidFill>
                  <a:srgbClr val="F0F4FF"/>
                </a:solidFill>
              </a:defRPr>
            </a:pPr>
            <a:r>
              <a:t>Apply: https://forms.gle/1HnZ4BLitQkXo2reA</a:t>
            </a:r>
          </a:p>
          <a:p>
            <a:pPr>
              <a:spcAft>
                <a:spcPts val="1000"/>
              </a:spcAft>
              <a:defRPr sz="2300">
                <a:solidFill>
                  <a:srgbClr val="F0F4FF"/>
                </a:solidFill>
              </a:defRPr>
            </a:pPr>
            <a:r>
              <a:t>Fee waiver: https://forms.gle/NMMsdenubnoGkRJ87</a:t>
            </a:r>
          </a:p>
          <a:p>
            <a:pPr>
              <a:spcAft>
                <a:spcPts val="1000"/>
              </a:spcAft>
              <a:defRPr sz="2300">
                <a:solidFill>
                  <a:srgbClr val="F0F4FF"/>
                </a:solidFill>
              </a:defRPr>
            </a:pPr>
            <a:r>
              <a:t>Contact: armeniallm@gmail.com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355080"/>
            <a:ext cx="10972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C1C9DB"/>
                </a:solidFill>
              </a:defRPr>
            </a:pPr>
            <a:r>
              <a:t>Armenia LLM Summer School • Deck generated from website content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